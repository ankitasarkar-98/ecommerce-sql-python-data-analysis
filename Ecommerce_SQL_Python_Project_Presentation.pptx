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01040" y="3023420"/>
            <a:ext cx="1078992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800" b="1"/>
            </a:pPr>
            <a:r>
              <a:rPr dirty="0"/>
              <a:t>Navigating the Future of Online Shopping</a:t>
            </a:r>
          </a:p>
          <a:p>
            <a:pPr algn="ctr">
              <a:defRPr sz="2100"/>
            </a:pPr>
            <a:r>
              <a:rPr dirty="0"/>
              <a:t>Target Dataset Exploration: An SQL and Python Approach</a:t>
            </a:r>
          </a:p>
          <a:p>
            <a:pPr algn="ctr">
              <a:defRPr sz="1600"/>
            </a:pPr>
            <a:r>
              <a:rPr dirty="0"/>
              <a:t>Internship Project Presentation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E55C86C-BE18-725B-149C-EC7185604FE2}"/>
              </a:ext>
            </a:extLst>
          </p:cNvPr>
          <p:cNvSpPr txBox="1"/>
          <p:nvPr/>
        </p:nvSpPr>
        <p:spPr>
          <a:xfrm>
            <a:off x="1858297" y="1656079"/>
            <a:ext cx="7177548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/>
            </a:pPr>
            <a:r>
              <a:rPr lang="en-IN" sz="5400" b="1" dirty="0">
                <a:solidFill>
                  <a:srgbClr val="0070C0"/>
                </a:solidFill>
              </a:rPr>
              <a:t>E-commerce Analysis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939CAFF-7982-3E5E-1BBA-20722167F66B}"/>
              </a:ext>
            </a:extLst>
          </p:cNvPr>
          <p:cNvSpPr txBox="1"/>
          <p:nvPr/>
        </p:nvSpPr>
        <p:spPr>
          <a:xfrm>
            <a:off x="9202994" y="5114921"/>
            <a:ext cx="20352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~By Ankita Sarkar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3940374" cy="6463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rPr sz="3600" u="sng" dirty="0"/>
              <a:t>1. Project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10607040" cy="38882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/>
            </a:pPr>
            <a:r>
              <a:rPr sz="2400" dirty="0"/>
              <a:t>Objective: analyze and visualize business, sales, product, seller, payment and customer metrics using SQL and Python.</a:t>
            </a:r>
          </a:p>
          <a:p>
            <a:pPr>
              <a:spcAft>
                <a:spcPts val="800"/>
              </a:spcAft>
              <a:defRPr sz="1800"/>
            </a:pPr>
            <a:r>
              <a:rPr sz="2800" dirty="0"/>
              <a:t>Source</a:t>
            </a:r>
            <a:r>
              <a:rPr sz="2400" dirty="0"/>
              <a:t> data: customers, sellers, orders, order items, payments, products and geolocation datasets.</a:t>
            </a:r>
          </a:p>
          <a:p>
            <a:pPr>
              <a:spcAft>
                <a:spcPts val="800"/>
              </a:spcAft>
              <a:defRPr sz="1800"/>
            </a:pPr>
            <a:r>
              <a:rPr sz="2400" dirty="0"/>
              <a:t>SQL was used for relational analysis and business queries in MySQL Workbench.</a:t>
            </a:r>
          </a:p>
          <a:p>
            <a:pPr>
              <a:spcAft>
                <a:spcPts val="800"/>
              </a:spcAft>
              <a:defRPr sz="1800"/>
            </a:pPr>
            <a:r>
              <a:rPr sz="2400" dirty="0"/>
              <a:t>Python (Pandas + Matplotlib) was used for data preparation, analysis and visualization in Google Col</a:t>
            </a:r>
            <a:r>
              <a:rPr lang="en-IN" sz="2400" dirty="0"/>
              <a:t>l</a:t>
            </a:r>
            <a:r>
              <a:rPr sz="2400" dirty="0"/>
              <a:t>ab.</a:t>
            </a:r>
          </a:p>
          <a:p>
            <a:pPr>
              <a:spcAft>
                <a:spcPts val="800"/>
              </a:spcAft>
              <a:defRPr sz="1800"/>
            </a:pPr>
            <a:r>
              <a:rPr sz="2400" dirty="0"/>
              <a:t>The analysis follows the Basic, Intermediate and Advanced questions specified in the internship brief.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/>
            </a:pPr>
            <a:r>
              <a:t>Python + SQL E-commerce Analysis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2. Executive Summary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143000"/>
            <a:ext cx="2103120" cy="11430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/>
            </a:pPr>
            <a:r>
              <a:t>4,119</a:t>
            </a:r>
          </a:p>
          <a:p>
            <a:pPr algn="ctr">
              <a:defRPr sz="1100"/>
            </a:pPr>
            <a:r>
              <a:t>Customer cities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926080" y="1143000"/>
            <a:ext cx="2103120" cy="11430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/>
            </a:pPr>
            <a:r>
              <a:t>45,101</a:t>
            </a:r>
          </a:p>
          <a:p>
            <a:pPr algn="ctr">
              <a:defRPr sz="1100"/>
            </a:pPr>
            <a:r>
              <a:t>Orders in 2017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212080" y="1143000"/>
            <a:ext cx="2103120" cy="11430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/>
            </a:pPr>
            <a:r>
              <a:t>51.5%</a:t>
            </a:r>
          </a:p>
          <a:p>
            <a:pPr algn="ctr">
              <a:defRPr sz="1100"/>
            </a:pPr>
            <a:r>
              <a:t>Orders with installments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498079" y="1143000"/>
            <a:ext cx="2103120" cy="11430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/>
            </a:pPr>
            <a:r>
              <a:t>2.8%</a:t>
            </a:r>
          </a:p>
          <a:p>
            <a:pPr algn="ctr">
              <a:defRPr sz="1100"/>
            </a:pPr>
            <a:r>
              <a:t>6-month retention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743200"/>
            <a:ext cx="10515600" cy="38266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spcAft>
                <a:spcPts val="800"/>
              </a:spcAft>
              <a:buFont typeface="Arial" panose="020B0604020202020204" pitchFamily="34" charset="0"/>
              <a:buChar char="•"/>
              <a:defRPr sz="1700"/>
            </a:pPr>
            <a:r>
              <a:rPr sz="2400" dirty="0"/>
              <a:t>Health &amp; Beauty generated the highest category sales at 1,258,681 in item-price revenue.</a:t>
            </a:r>
          </a:p>
          <a:p>
            <a:pPr marL="342900" indent="-342900">
              <a:spcAft>
                <a:spcPts val="800"/>
              </a:spcAft>
              <a:buFont typeface="Arial" panose="020B0604020202020204" pitchFamily="34" charset="0"/>
              <a:buChar char="•"/>
              <a:defRPr sz="1700"/>
            </a:pPr>
            <a:r>
              <a:rPr sz="2400" dirty="0"/>
              <a:t>São Paulo had the largest customer base with 40,302 unique customers.</a:t>
            </a:r>
          </a:p>
          <a:p>
            <a:pPr marL="342900" indent="-342900">
              <a:spcAft>
                <a:spcPts val="800"/>
              </a:spcAft>
              <a:buFont typeface="Arial" panose="020B0604020202020204" pitchFamily="34" charset="0"/>
              <a:buChar char="•"/>
              <a:defRPr sz="1700"/>
            </a:pPr>
            <a:r>
              <a:rPr sz="2400" dirty="0"/>
              <a:t>January recorded 7,269 orders in 2018; September and October are partial in the source data.</a:t>
            </a:r>
          </a:p>
          <a:p>
            <a:pPr marL="342900" indent="-342900">
              <a:spcAft>
                <a:spcPts val="800"/>
              </a:spcAft>
              <a:buFont typeface="Arial" panose="020B0604020202020204" pitchFamily="34" charset="0"/>
              <a:buChar char="•"/>
              <a:defRPr sz="1700"/>
            </a:pPr>
            <a:r>
              <a:rPr sz="2400" dirty="0"/>
              <a:t>Sales increased from 6,155,807 in 2017 to 7,386,051 in 2018, a 19.99% YoY increase.</a:t>
            </a:r>
          </a:p>
          <a:p>
            <a:pPr marL="342900" indent="-342900">
              <a:spcAft>
                <a:spcPts val="800"/>
              </a:spcAft>
              <a:buFont typeface="Arial" panose="020B0604020202020204" pitchFamily="34" charset="0"/>
              <a:buChar char="•"/>
              <a:defRPr sz="1700"/>
            </a:pPr>
            <a:r>
              <a:rPr sz="2400" dirty="0"/>
              <a:t>Product price vs purchase count correlation was -0.032, indicating a very weak linear relationship.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/>
            </a:pPr>
            <a:r>
              <a:rPr dirty="0"/>
              <a:t>Python + SQL E-commerce Analysis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3. Customer Geography</a:t>
            </a:r>
          </a:p>
        </p:txBody>
      </p:sp>
      <p:pic>
        <p:nvPicPr>
          <p:cNvPr id="3" name="Picture 2" descr="stat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583680" cy="364884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315200" y="1325880"/>
            <a:ext cx="42976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/>
            </a:pPr>
            <a:r>
              <a:t>São Paulo (SP): 40,302 unique customers.</a:t>
            </a:r>
          </a:p>
          <a:p>
            <a:pPr>
              <a:spcAft>
                <a:spcPts val="800"/>
              </a:spcAft>
              <a:defRPr sz="1600"/>
            </a:pPr>
            <a:r>
              <a:t>Rio de Janeiro (RJ): 12,384.</a:t>
            </a:r>
          </a:p>
          <a:p>
            <a:pPr>
              <a:spcAft>
                <a:spcPts val="800"/>
              </a:spcAft>
              <a:defRPr sz="1600"/>
            </a:pPr>
            <a:r>
              <a:t>Minas Gerais (MG): 11,259.</a:t>
            </a:r>
          </a:p>
          <a:p>
            <a:pPr>
              <a:spcAft>
                <a:spcPts val="800"/>
              </a:spcAft>
              <a:defRPr sz="1600"/>
            </a:pPr>
            <a:r>
              <a:t>The customer base is concentrated in a small group of major states.</a:t>
            </a:r>
          </a:p>
          <a:p>
            <a:pPr>
              <a:spcAft>
                <a:spcPts val="800"/>
              </a:spcAft>
              <a:defRPr sz="1600"/>
            </a:pPr>
            <a:r>
              <a:t>State-level segmentation can support future marketing, service and regional performance analysis.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/>
            </a:pPr>
            <a:r>
              <a:t>Python + SQL E-commerce Analysis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4. Sales and Product Category Performance</a:t>
            </a:r>
          </a:p>
        </p:txBody>
      </p:sp>
      <p:pic>
        <p:nvPicPr>
          <p:cNvPr id="3" name="Picture 2" descr="categori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051560"/>
            <a:ext cx="6583680" cy="364627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223760" y="1143000"/>
            <a:ext cx="43891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/>
            </a:pPr>
            <a:r>
              <a:t>Top category: Health &amp; Beauty — 1,258,681 (9.3% of item-price sales).</a:t>
            </a:r>
          </a:p>
          <a:p>
            <a:pPr>
              <a:spcAft>
                <a:spcPts val="800"/>
              </a:spcAft>
              <a:defRPr sz="1500"/>
            </a:pPr>
            <a:r>
              <a:t>Second: Watches present — 1,205,006 (8.9%).</a:t>
            </a:r>
          </a:p>
          <a:p>
            <a:pPr>
              <a:spcAft>
                <a:spcPts val="800"/>
              </a:spcAft>
              <a:defRPr sz="1500"/>
            </a:pPr>
            <a:r>
              <a:t>Third: Bed Table Bath — 1,036,989 (7.6%).</a:t>
            </a:r>
          </a:p>
          <a:p>
            <a:pPr>
              <a:spcAft>
                <a:spcPts val="800"/>
              </a:spcAft>
              <a:defRPr sz="1500"/>
            </a:pPr>
            <a:r>
              <a:t>Category contribution is uneven, with several leading categories accounting for a substantial share of sales.</a:t>
            </a:r>
          </a:p>
          <a:p>
            <a:pPr>
              <a:spcAft>
                <a:spcPts val="800"/>
              </a:spcAft>
              <a:defRPr sz="1500"/>
            </a:pPr>
            <a:r>
              <a:t>Revenue is defined as SUM(order_items.price); freight is analyzed separately.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/>
            </a:pPr>
            <a:r>
              <a:t>Python + SQL E-commerce Analysis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5. Order Trend — 2018</a:t>
            </a:r>
          </a:p>
        </p:txBody>
      </p:sp>
      <p:pic>
        <p:nvPicPr>
          <p:cNvPr id="3" name="Picture 2" descr="orders201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097280"/>
            <a:ext cx="6583680" cy="364627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315200" y="1234440"/>
            <a:ext cx="42062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/>
            </a:pPr>
            <a:r>
              <a:t>January had the highest available monthly order count: 7,269.</a:t>
            </a:r>
          </a:p>
          <a:p>
            <a:pPr>
              <a:spcAft>
                <a:spcPts val="800"/>
              </a:spcAft>
              <a:defRPr sz="1600"/>
            </a:pPr>
            <a:r>
              <a:t>June recorded 6,167 orders and July 6,292.</a:t>
            </a:r>
          </a:p>
          <a:p>
            <a:pPr>
              <a:spcAft>
                <a:spcPts val="800"/>
              </a:spcAft>
              <a:defRPr sz="1600"/>
            </a:pPr>
            <a:r>
              <a:t>September and October contain very few records because the source dataset ends during October 2018.</a:t>
            </a:r>
          </a:p>
          <a:p>
            <a:pPr>
              <a:spcAft>
                <a:spcPts val="800"/>
              </a:spcAft>
              <a:defRPr sz="1600"/>
            </a:pPr>
            <a:r>
              <a:t>The late-2018 decline should therefore not be interpreted as a full-month demand decline.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/>
            </a:pPr>
            <a:r>
              <a:t>Python + SQL E-commerce Analysis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6. Payment Behavior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14400" y="1280160"/>
            <a:ext cx="2743200" cy="128016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/>
            </a:pPr>
            <a:r>
              <a:t>51.46%</a:t>
            </a:r>
          </a:p>
          <a:p>
            <a:pPr algn="ctr">
              <a:defRPr sz="1100"/>
            </a:pPr>
            <a:r>
              <a:t>Orders paid in installments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114800" y="1280160"/>
            <a:ext cx="2743200" cy="128016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/>
            </a:pPr>
            <a:r>
              <a:t>99,440</a:t>
            </a:r>
          </a:p>
          <a:p>
            <a:pPr algn="ctr">
              <a:defRPr sz="1100"/>
            </a:pPr>
            <a:r>
              <a:t>Orders represented in payments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063240"/>
            <a:ext cx="987552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/>
            </a:pPr>
            <a:r>
              <a:t>Installment order = payment_installments &gt; 1.</a:t>
            </a:r>
          </a:p>
          <a:p>
            <a:pPr>
              <a:spcAft>
                <a:spcPts val="800"/>
              </a:spcAft>
              <a:defRPr sz="1700"/>
            </a:pPr>
            <a:r>
              <a:t>Distinct order IDs are used so multiple payment records for one order are not double-counted.</a:t>
            </a:r>
          </a:p>
          <a:p>
            <a:pPr>
              <a:spcAft>
                <a:spcPts val="800"/>
              </a:spcAft>
              <a:defRPr sz="1700"/>
            </a:pPr>
            <a:r>
              <a:t>Installment usage is a meaningful part of the payment behavior observed in the dataset.</a:t>
            </a:r>
          </a:p>
          <a:p>
            <a:pPr>
              <a:spcAft>
                <a:spcPts val="800"/>
              </a:spcAft>
              <a:defRPr sz="1700"/>
            </a:pPr>
            <a:r>
              <a:t>This metric can support future analysis of payment-method preference and customer purchase behavior.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/>
            </a:pPr>
            <a:r>
              <a:t>Python + SQL E-commerce Analysis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7. Product and Seller Performance</a:t>
            </a:r>
          </a:p>
        </p:txBody>
      </p:sp>
      <p:pic>
        <p:nvPicPr>
          <p:cNvPr id="3" name="Picture 2" descr="price_purcha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143000"/>
            <a:ext cx="5486400" cy="3042845"/>
          </a:xfrm>
          <a:prstGeom prst="rect">
            <a:avLst/>
          </a:prstGeom>
        </p:spPr>
      </p:pic>
      <p:pic>
        <p:nvPicPr>
          <p:cNvPr id="4" name="Picture 3" descr="seller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143000"/>
            <a:ext cx="5394960" cy="298791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85800" y="525780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/>
            </a:pPr>
            <a:r>
              <a:t>Price vs purchase-count correlation: -0.032, indicating a very weak linear relationship.</a:t>
            </a:r>
          </a:p>
          <a:p>
            <a:pPr>
              <a:spcAft>
                <a:spcPts val="800"/>
              </a:spcAft>
              <a:defRPr sz="1300"/>
            </a:pPr>
            <a:r>
              <a:t>Top seller by item-price revenue: 4869f7a5dfa277a7dca6462dcf3b52b2 with 229,473.</a:t>
            </a:r>
          </a:p>
          <a:p>
            <a:pPr>
              <a:spcAft>
                <a:spcPts val="800"/>
              </a:spcAft>
              <a:defRPr sz="1300"/>
            </a:pPr>
            <a:r>
              <a:t>Seller revenue is calculated from order-item price and ranked across sellers.</a:t>
            </a:r>
          </a:p>
          <a:p>
            <a:pPr>
              <a:spcAft>
                <a:spcPts val="800"/>
              </a:spcAft>
              <a:defRPr sz="1300"/>
            </a:pPr>
            <a:r>
              <a:t>The seller analysis highlights substantial variation in sales contribution.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/>
            </a:pPr>
            <a:r>
              <a:t>Python + SQL E-commerce Analysis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8. Customer Order History — Moving Average</a:t>
            </a:r>
          </a:p>
        </p:txBody>
      </p:sp>
      <p:pic>
        <p:nvPicPr>
          <p:cNvPr id="3" name="Picture 2" descr="moving_aver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051560"/>
            <a:ext cx="6675120" cy="3704739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406640" y="1234440"/>
            <a:ext cx="41148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/>
            </a:pPr>
            <a:r>
              <a:t>Customer history uses customer_unique_id so repeat purchases are grouped under the same customer.</a:t>
            </a:r>
          </a:p>
          <a:p>
            <a:pPr>
              <a:spcAft>
                <a:spcPts val="800"/>
              </a:spcAft>
              <a:defRPr sz="1500"/>
            </a:pPr>
            <a:r>
              <a:t>A 3-order rolling window is used for the moving average.</a:t>
            </a:r>
          </a:p>
          <a:p>
            <a:pPr>
              <a:spcAft>
                <a:spcPts val="800"/>
              </a:spcAft>
              <a:defRPr sz="1500"/>
            </a:pPr>
            <a:r>
              <a:t>Early observations use a partial window; later observations use up to the previous three orders.</a:t>
            </a:r>
          </a:p>
          <a:p>
            <a:pPr>
              <a:spcAft>
                <a:spcPts val="800"/>
              </a:spcAft>
              <a:defRPr sz="1500"/>
            </a:pPr>
            <a:r>
              <a:t>The moving average smooths order-value fluctuations and makes changes in customer spending easier to inspect.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/>
            </a:pPr>
            <a:r>
              <a:t>Python + SQL E-commerce Analysis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9. Cumulative Sales and YoY Growth</a:t>
            </a:r>
          </a:p>
        </p:txBody>
      </p:sp>
      <p:pic>
        <p:nvPicPr>
          <p:cNvPr id="3" name="Picture 2" descr="cumulati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051560"/>
            <a:ext cx="5577840" cy="3091380"/>
          </a:xfrm>
          <a:prstGeom prst="rect">
            <a:avLst/>
          </a:prstGeom>
        </p:spPr>
      </p:pic>
      <p:pic>
        <p:nvPicPr>
          <p:cNvPr id="4" name="Picture 3" descr="yo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051560"/>
            <a:ext cx="5394960" cy="298791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85800" y="525780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/>
            </a:pPr>
            <a:r>
              <a:t>2017 item-price sales: 6,155,807.</a:t>
            </a:r>
          </a:p>
          <a:p>
            <a:pPr>
              <a:spcAft>
                <a:spcPts val="800"/>
              </a:spcAft>
              <a:defRPr sz="1300"/>
            </a:pPr>
            <a:r>
              <a:t>2018 item-price sales: 7,386,051.</a:t>
            </a:r>
          </a:p>
          <a:p>
            <a:pPr>
              <a:spcAft>
                <a:spcPts val="800"/>
              </a:spcAft>
              <a:defRPr sz="1300"/>
            </a:pPr>
            <a:r>
              <a:t>2018 YoY growth: 19.99%.</a:t>
            </a:r>
          </a:p>
          <a:p>
            <a:pPr>
              <a:spcAft>
                <a:spcPts val="800"/>
              </a:spcAft>
              <a:defRPr sz="1300"/>
            </a:pPr>
            <a:r>
              <a:t>The 2016-to-2017 growth percentage is unusually large because 2016 contains only a small partial period.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/>
            </a:pPr>
            <a:r>
              <a:t>Python + SQL E-commerce Analysis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10. Customer Retention and Top Spenders</a:t>
            </a:r>
          </a:p>
        </p:txBody>
      </p:sp>
      <p:pic>
        <p:nvPicPr>
          <p:cNvPr id="3" name="Picture 2" descr="reten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097280"/>
            <a:ext cx="4297680" cy="449121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983480" y="1234440"/>
            <a:ext cx="6400800" cy="3246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/>
            </a:pPr>
            <a:r>
              <a:rPr dirty="0"/>
              <a:t>Eligible customers with a full 6-month observation window: 55,364.</a:t>
            </a:r>
          </a:p>
          <a:p>
            <a:pPr>
              <a:spcAft>
                <a:spcPts val="800"/>
              </a:spcAft>
              <a:defRPr sz="1400"/>
            </a:pPr>
            <a:r>
              <a:rPr dirty="0"/>
              <a:t>Customers making another purchase within 6 months: 1,560.</a:t>
            </a:r>
          </a:p>
          <a:p>
            <a:pPr>
              <a:spcAft>
                <a:spcPts val="800"/>
              </a:spcAft>
              <a:defRPr sz="1400"/>
            </a:pPr>
            <a:r>
              <a:rPr dirty="0"/>
              <a:t>6-month retention rate: 2.82%.</a:t>
            </a:r>
          </a:p>
          <a:p>
            <a:pPr>
              <a:spcAft>
                <a:spcPts val="800"/>
              </a:spcAft>
              <a:defRPr sz="1400"/>
            </a:pPr>
            <a:r>
              <a:rPr dirty="0"/>
              <a:t>Retention is based on delivered orders and excludes first purchases too close to the dataset end.</a:t>
            </a:r>
          </a:p>
          <a:p>
            <a:pPr>
              <a:spcAft>
                <a:spcPts val="800"/>
              </a:spcAft>
              <a:defRPr sz="1400"/>
            </a:pPr>
            <a:r>
              <a:rPr dirty="0"/>
              <a:t>Top-spender analysis identifies the top three unique customers separately for each year.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983480" y="4572000"/>
          <a:ext cx="6309360" cy="2133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773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773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773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773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41732"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Year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Rank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Customer 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Spend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1732"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2016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fdaa290acb9e…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1,399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41732"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2016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753bc5d6efa9…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1,300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41732"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2016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b92a2e5e8a6e…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1,199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41732"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2017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0a0a92112bd4…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13,440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41732"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2017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da122df9eedd…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7,388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41732"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2017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dc4802a71eae…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6,735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41732"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2018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763c8b1c9c68…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7,160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41732"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2018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459bef486812…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6,729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41732"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2018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5d0a2980b292…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4,600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11. Methodology, Assumptions and 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10698480" cy="4401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/>
            </a:pPr>
            <a:r>
              <a:rPr sz="2000" dirty="0"/>
              <a:t>Data model: customers → orders → </a:t>
            </a:r>
            <a:r>
              <a:rPr sz="2000" dirty="0" err="1"/>
              <a:t>order_items</a:t>
            </a:r>
            <a:r>
              <a:rPr sz="2000" dirty="0"/>
              <a:t> → products/sellers; payments linked through </a:t>
            </a:r>
            <a:r>
              <a:rPr sz="2000" dirty="0" err="1"/>
              <a:t>order_id</a:t>
            </a:r>
            <a:r>
              <a:rPr sz="2000" dirty="0"/>
              <a:t>.</a:t>
            </a:r>
          </a:p>
          <a:p>
            <a:pPr>
              <a:spcAft>
                <a:spcPts val="800"/>
              </a:spcAft>
              <a:defRPr sz="1500"/>
            </a:pPr>
            <a:r>
              <a:rPr sz="2000" dirty="0"/>
              <a:t>Sales metric: SUM(</a:t>
            </a:r>
            <a:r>
              <a:rPr sz="2000" dirty="0" err="1"/>
              <a:t>order_items.price</a:t>
            </a:r>
            <a:r>
              <a:rPr sz="2000" dirty="0"/>
              <a:t>). Freight is excluded from revenue unless explicitly stated.</a:t>
            </a:r>
          </a:p>
          <a:p>
            <a:pPr>
              <a:spcAft>
                <a:spcPts val="800"/>
              </a:spcAft>
              <a:defRPr sz="1500"/>
            </a:pPr>
            <a:r>
              <a:rPr sz="2000" dirty="0"/>
              <a:t>Customer-level analysis uses </a:t>
            </a:r>
            <a:r>
              <a:rPr sz="2000" dirty="0" err="1"/>
              <a:t>customer_unique_id</a:t>
            </a:r>
            <a:r>
              <a:rPr sz="2000" dirty="0"/>
              <a:t> to capture repeat purchases correctly.</a:t>
            </a:r>
          </a:p>
          <a:p>
            <a:pPr>
              <a:spcAft>
                <a:spcPts val="800"/>
              </a:spcAft>
              <a:defRPr sz="1500"/>
            </a:pPr>
            <a:r>
              <a:rPr sz="2000" dirty="0"/>
              <a:t>Missing product categories are grouped as 'Unknown'; missing delivery dates are retained rather than fabricated.</a:t>
            </a:r>
          </a:p>
          <a:p>
            <a:pPr>
              <a:spcAft>
                <a:spcPts val="800"/>
              </a:spcAft>
              <a:defRPr sz="1500"/>
            </a:pPr>
            <a:r>
              <a:rPr sz="2000" dirty="0"/>
              <a:t>Retention: another delivered purchase within six months of first purchase, with a full six-month observation window.</a:t>
            </a:r>
          </a:p>
          <a:p>
            <a:pPr>
              <a:spcAft>
                <a:spcPts val="800"/>
              </a:spcAft>
              <a:defRPr sz="1500"/>
            </a:pPr>
            <a:r>
              <a:rPr sz="2000" dirty="0"/>
              <a:t>2018 monthly order analysis accounts for the partial September/October coverage in the source data.</a:t>
            </a:r>
          </a:p>
          <a:p>
            <a:pPr>
              <a:spcAft>
                <a:spcPts val="800"/>
              </a:spcAft>
              <a:defRPr sz="1500"/>
            </a:pPr>
            <a:r>
              <a:rPr sz="2000" dirty="0"/>
              <a:t>Conclusion: the dataset shows strong growth into 2018, concentrated customer geography, differentiated category and seller performance, and relatively limited repeat purchasing within six months.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/>
            </a:pPr>
            <a:r>
              <a:t>Prepared using MySQL Workbench, Pandas and Matplotlib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B737807-2920-4DC2-FFBB-97CA754D5993}"/>
              </a:ext>
            </a:extLst>
          </p:cNvPr>
          <p:cNvSpPr txBox="1"/>
          <p:nvPr/>
        </p:nvSpPr>
        <p:spPr>
          <a:xfrm>
            <a:off x="4444181" y="2505670"/>
            <a:ext cx="3148939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5400" b="1" dirty="0">
                <a:solidFill>
                  <a:srgbClr val="0070C0"/>
                </a:solidFill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50054415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947</Words>
  <Application>Microsoft Office PowerPoint</Application>
  <PresentationFormat>Widescreen</PresentationFormat>
  <Paragraphs>131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Ankita Sarkar</cp:lastModifiedBy>
  <cp:revision>5</cp:revision>
  <dcterms:created xsi:type="dcterms:W3CDTF">2013-01-27T09:14:16Z</dcterms:created>
  <dcterms:modified xsi:type="dcterms:W3CDTF">2026-09-21T20:08:33Z</dcterms:modified>
  <cp:category/>
</cp:coreProperties>
</file>