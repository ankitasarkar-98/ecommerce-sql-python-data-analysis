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alibri (MS) Bold" charset="1" panose="020F0702030404030204"/>
      <p:regular r:id="rId38"/>
    </p:embeddedFont>
    <p:embeddedFont>
      <p:font typeface="Calibri (MS)" charset="1" panose="020F050202020403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4463" y="865877"/>
            <a:ext cx="12157122" cy="187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079"/>
              </a:lnSpc>
            </a:pPr>
            <a:r>
              <a:rPr lang="en-US" sz="10899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E-commerce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95927" y="7651423"/>
            <a:ext cx="356306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~By Ankita Sarkar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47151" y="3875218"/>
            <a:ext cx="13393817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Project:</a:t>
            </a:r>
            <a:r>
              <a:rPr lang="en-US" b="true" sz="4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E-Commerce Sales &amp; Customer Analysis</a:t>
            </a:r>
          </a:p>
          <a:p>
            <a:pPr algn="l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Tools: </a:t>
            </a:r>
            <a:r>
              <a:rPr lang="en-US" b="true" sz="4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&amp; Python</a:t>
            </a:r>
          </a:p>
          <a:p>
            <a:pPr algn="l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Focus: </a:t>
            </a:r>
            <a:r>
              <a:rPr lang="en-US" b="true" sz="4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Analysis, Business Insights &amp; Cross-Tool Validation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820" y="274320"/>
            <a:ext cx="572767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5820" y="1590675"/>
            <a:ext cx="15727680" cy="845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ject analyzes an e-commerce dataset to understand customer behavior, sales performance, product performance, and purchasing patterns using both SQL and Python.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same analytical questions were solved independently using SQL queries and Python-based data analysis.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  <a:r>
              <a:rPr lang="en-US" b="true" sz="5199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 customer and order information.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sales and product-category performance.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customer purchasing patterns.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 advanced sales and customer analysis.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Reproduce SQL analysis using Python.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SQL and Python outputs for consistency and accuracy.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that both approaches produce equivalent results.</a:t>
            </a: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820" y="302895"/>
            <a:ext cx="1655064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Executive Summary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976" y="1707356"/>
            <a:ext cx="3168967" cy="1728788"/>
            <a:chOff x="0" y="0"/>
            <a:chExt cx="4225290" cy="2305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4225290" cy="2305050"/>
              <a:chOff x="0" y="0"/>
              <a:chExt cx="4225290" cy="23050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25290" cy="2305050"/>
              </a:xfrm>
              <a:custGeom>
                <a:avLst/>
                <a:gdLst/>
                <a:ahLst/>
                <a:cxnLst/>
                <a:rect r="r" b="b" t="t" l="l"/>
                <a:pathLst>
                  <a:path h="2305050" w="4225290">
                    <a:moveTo>
                      <a:pt x="0" y="0"/>
                    </a:moveTo>
                    <a:lnTo>
                      <a:pt x="4225290" y="0"/>
                    </a:lnTo>
                    <a:lnTo>
                      <a:pt x="4225290" y="2305050"/>
                    </a:lnTo>
                    <a:lnTo>
                      <a:pt x="0" y="23050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19994" t="0" r="-19994" b="0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4225290" cy="2371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4,119</a:t>
                </a:r>
              </a:p>
              <a:p>
                <a:pPr algn="ctr">
                  <a:lnSpc>
                    <a:spcPts val="198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Customer cities</a:t>
                </a: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4381976" y="1707356"/>
            <a:ext cx="3168967" cy="1728788"/>
            <a:chOff x="0" y="0"/>
            <a:chExt cx="4225290" cy="2305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4225290" cy="2305050"/>
              <a:chOff x="0" y="0"/>
              <a:chExt cx="4225290" cy="23050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225290" cy="2305050"/>
              </a:xfrm>
              <a:custGeom>
                <a:avLst/>
                <a:gdLst/>
                <a:ahLst/>
                <a:cxnLst/>
                <a:rect r="r" b="b" t="t" l="l"/>
                <a:pathLst>
                  <a:path h="2305050" w="4225290">
                    <a:moveTo>
                      <a:pt x="0" y="0"/>
                    </a:moveTo>
                    <a:lnTo>
                      <a:pt x="4225290" y="0"/>
                    </a:lnTo>
                    <a:lnTo>
                      <a:pt x="4225290" y="2305050"/>
                    </a:lnTo>
                    <a:lnTo>
                      <a:pt x="0" y="23050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19994" t="0" r="-19994" b="0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4225290" cy="2371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45,101</a:t>
                </a:r>
              </a:p>
              <a:p>
                <a:pPr algn="ctr">
                  <a:lnSpc>
                    <a:spcPts val="198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Orders in 2017</a:t>
                </a: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7810976" y="1707356"/>
            <a:ext cx="3168967" cy="1728788"/>
            <a:chOff x="0" y="0"/>
            <a:chExt cx="4225290" cy="2305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0" y="0"/>
              <a:ext cx="4225290" cy="2305050"/>
              <a:chOff x="0" y="0"/>
              <a:chExt cx="4225290" cy="23050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25290" cy="2305050"/>
              </a:xfrm>
              <a:custGeom>
                <a:avLst/>
                <a:gdLst/>
                <a:ahLst/>
                <a:cxnLst/>
                <a:rect r="r" b="b" t="t" l="l"/>
                <a:pathLst>
                  <a:path h="2305050" w="4225290">
                    <a:moveTo>
                      <a:pt x="0" y="0"/>
                    </a:moveTo>
                    <a:lnTo>
                      <a:pt x="4225290" y="0"/>
                    </a:lnTo>
                    <a:lnTo>
                      <a:pt x="4225290" y="2305050"/>
                    </a:lnTo>
                    <a:lnTo>
                      <a:pt x="0" y="23050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19994" t="0" r="-19994" b="0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4225290" cy="2371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51.5%</a:t>
                </a:r>
              </a:p>
              <a:p>
                <a:pPr algn="ctr">
                  <a:lnSpc>
                    <a:spcPts val="198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Orders with installments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1239976" y="1707356"/>
            <a:ext cx="3168967" cy="1728788"/>
            <a:chOff x="0" y="0"/>
            <a:chExt cx="4225290" cy="2305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4225290" cy="2305050"/>
              <a:chOff x="0" y="0"/>
              <a:chExt cx="4225290" cy="23050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225290" cy="2305050"/>
              </a:xfrm>
              <a:custGeom>
                <a:avLst/>
                <a:gdLst/>
                <a:ahLst/>
                <a:cxnLst/>
                <a:rect r="r" b="b" t="t" l="l"/>
                <a:pathLst>
                  <a:path h="2305050" w="4225290">
                    <a:moveTo>
                      <a:pt x="0" y="0"/>
                    </a:moveTo>
                    <a:lnTo>
                      <a:pt x="4225290" y="0"/>
                    </a:lnTo>
                    <a:lnTo>
                      <a:pt x="4225290" y="2305050"/>
                    </a:lnTo>
                    <a:lnTo>
                      <a:pt x="0" y="23050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19994" t="0" r="-19994" b="0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4225290" cy="2371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2.8%</a:t>
                </a:r>
              </a:p>
              <a:p>
                <a:pPr algn="ctr">
                  <a:lnSpc>
                    <a:spcPts val="198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6-month retention</a:t>
                </a: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1188720" y="4093845"/>
            <a:ext cx="15590520" cy="571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Health &amp; Beauty generated the highest category sales at 1,258,681 in item-price revenue.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São Paulo had the largest customer base with 40,302 unique customers.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January recorded 7,269 orders in 2018; September and October are partial in the source data.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Sales increased from 6,155,807 in 2017 to 7,386,051 in 2018, a 19.99% YoY increase.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price vs purchase count correlation was -0.032, indicating a very weak linear relationship.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5820" y="9686925"/>
            <a:ext cx="1627632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+ SQL E-commerce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21043"/>
            <a:ext cx="8621960" cy="6844915"/>
          </a:xfrm>
          <a:custGeom>
            <a:avLst/>
            <a:gdLst/>
            <a:ahLst/>
            <a:cxnLst/>
            <a:rect r="r" b="b" t="t" l="l"/>
            <a:pathLst>
              <a:path h="6844915" w="8621960">
                <a:moveTo>
                  <a:pt x="0" y="0"/>
                </a:moveTo>
                <a:lnTo>
                  <a:pt x="8621960" y="0"/>
                </a:lnTo>
                <a:lnTo>
                  <a:pt x="8621960" y="6844914"/>
                </a:lnTo>
                <a:lnTo>
                  <a:pt x="0" y="6844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3980" y="4936285"/>
            <a:ext cx="9529083" cy="5350715"/>
          </a:xfrm>
          <a:custGeom>
            <a:avLst/>
            <a:gdLst/>
            <a:ahLst/>
            <a:cxnLst/>
            <a:rect r="r" b="b" t="t" l="l"/>
            <a:pathLst>
              <a:path h="5350715" w="9529083">
                <a:moveTo>
                  <a:pt x="0" y="0"/>
                </a:moveTo>
                <a:lnTo>
                  <a:pt x="9529083" y="0"/>
                </a:lnTo>
                <a:lnTo>
                  <a:pt x="9529083" y="5350715"/>
                </a:lnTo>
                <a:lnTo>
                  <a:pt x="0" y="5350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13095" y="525828"/>
            <a:ext cx="6674905" cy="4410456"/>
          </a:xfrm>
          <a:custGeom>
            <a:avLst/>
            <a:gdLst/>
            <a:ahLst/>
            <a:cxnLst/>
            <a:rect r="r" b="b" t="t" l="l"/>
            <a:pathLst>
              <a:path h="4410456" w="6674905">
                <a:moveTo>
                  <a:pt x="0" y="0"/>
                </a:moveTo>
                <a:lnTo>
                  <a:pt x="6674905" y="0"/>
                </a:lnTo>
                <a:lnTo>
                  <a:pt x="6674905" y="4410457"/>
                </a:lnTo>
                <a:lnTo>
                  <a:pt x="0" y="4410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08" r="0" b="-110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655064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1 — Unique Cities Where</a:t>
            </a:r>
            <a:r>
              <a:rPr lang="en-US" b="true" sz="4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Customers Are Located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686925"/>
            <a:ext cx="1627632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+ SQL E-commerce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803" y="723900"/>
            <a:ext cx="7615823" cy="4981790"/>
          </a:xfrm>
          <a:custGeom>
            <a:avLst/>
            <a:gdLst/>
            <a:ahLst/>
            <a:cxnLst/>
            <a:rect r="r" b="b" t="t" l="l"/>
            <a:pathLst>
              <a:path h="4981790" w="7615823">
                <a:moveTo>
                  <a:pt x="0" y="0"/>
                </a:moveTo>
                <a:lnTo>
                  <a:pt x="7615822" y="0"/>
                </a:lnTo>
                <a:lnTo>
                  <a:pt x="7615822" y="4981790"/>
                </a:lnTo>
                <a:lnTo>
                  <a:pt x="0" y="4981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80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2625" y="723900"/>
            <a:ext cx="10535375" cy="3087791"/>
          </a:xfrm>
          <a:custGeom>
            <a:avLst/>
            <a:gdLst/>
            <a:ahLst/>
            <a:cxnLst/>
            <a:rect r="r" b="b" t="t" l="l"/>
            <a:pathLst>
              <a:path h="3087791" w="10535375">
                <a:moveTo>
                  <a:pt x="0" y="0"/>
                </a:moveTo>
                <a:lnTo>
                  <a:pt x="10535375" y="0"/>
                </a:lnTo>
                <a:lnTo>
                  <a:pt x="10535375" y="3087791"/>
                </a:lnTo>
                <a:lnTo>
                  <a:pt x="0" y="3087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2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25034" y="4815634"/>
            <a:ext cx="9289710" cy="5254937"/>
          </a:xfrm>
          <a:custGeom>
            <a:avLst/>
            <a:gdLst/>
            <a:ahLst/>
            <a:cxnLst/>
            <a:rect r="r" b="b" t="t" l="l"/>
            <a:pathLst>
              <a:path h="5254937" w="9289710">
                <a:moveTo>
                  <a:pt x="0" y="0"/>
                </a:moveTo>
                <a:lnTo>
                  <a:pt x="9289710" y="0"/>
                </a:lnTo>
                <a:lnTo>
                  <a:pt x="9289710" y="5254936"/>
                </a:lnTo>
                <a:lnTo>
                  <a:pt x="0" y="525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6803" y="-104775"/>
            <a:ext cx="1029259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b="true" sz="4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Basic-2 </a:t>
            </a:r>
            <a:r>
              <a:rPr lang="en-US" b="true" sz="4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Number of Orders Placed in 2017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803495"/>
            <a:ext cx="8304131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b="true" sz="38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Approach: 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Filter orders using the 2017 date range and count the resulting orders. The same date filter and counting logic are applied in Python.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83402"/>
            <a:ext cx="11323203" cy="6047460"/>
          </a:xfrm>
          <a:custGeom>
            <a:avLst/>
            <a:gdLst/>
            <a:ahLst/>
            <a:cxnLst/>
            <a:rect r="r" b="b" t="t" l="l"/>
            <a:pathLst>
              <a:path h="6047460" w="11323203">
                <a:moveTo>
                  <a:pt x="0" y="0"/>
                </a:moveTo>
                <a:lnTo>
                  <a:pt x="11323203" y="0"/>
                </a:lnTo>
                <a:lnTo>
                  <a:pt x="11323203" y="6047460"/>
                </a:lnTo>
                <a:lnTo>
                  <a:pt x="0" y="604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85725"/>
            <a:ext cx="16642080" cy="136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7"/>
              </a:lnSpc>
            </a:pPr>
            <a:r>
              <a:rPr lang="en-US" sz="422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3 — Total</a:t>
            </a:r>
            <a:r>
              <a:rPr lang="en-US" sz="422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sales per category</a:t>
            </a:r>
          </a:p>
          <a:p>
            <a:pPr algn="l">
              <a:lnSpc>
                <a:spcPts val="506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8321040" y="4817583"/>
            <a:ext cx="9875520" cy="5469417"/>
            <a:chOff x="0" y="0"/>
            <a:chExt cx="13167360" cy="7292556"/>
          </a:xfrm>
        </p:grpSpPr>
        <p:sp>
          <p:nvSpPr>
            <p:cNvPr name="Freeform 5" id="5" descr="categories.png"/>
            <p:cNvSpPr/>
            <p:nvPr/>
          </p:nvSpPr>
          <p:spPr>
            <a:xfrm flipH="false" flipV="false" rot="0">
              <a:off x="0" y="0"/>
              <a:ext cx="13167361" cy="7292594"/>
            </a:xfrm>
            <a:custGeom>
              <a:avLst/>
              <a:gdLst/>
              <a:ahLst/>
              <a:cxnLst/>
              <a:rect r="r" b="b" t="t" l="l"/>
              <a:pathLst>
                <a:path h="729259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7292594"/>
                  </a:lnTo>
                  <a:lnTo>
                    <a:pt x="0" y="7292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217711" y="0"/>
            <a:ext cx="7070289" cy="3382076"/>
          </a:xfrm>
          <a:custGeom>
            <a:avLst/>
            <a:gdLst/>
            <a:ahLst/>
            <a:cxnLst/>
            <a:rect r="r" b="b" t="t" l="l"/>
            <a:pathLst>
              <a:path h="3382076" w="7070289">
                <a:moveTo>
                  <a:pt x="0" y="0"/>
                </a:moveTo>
                <a:lnTo>
                  <a:pt x="7070289" y="0"/>
                </a:lnTo>
                <a:lnTo>
                  <a:pt x="7070289" y="3382076"/>
                </a:lnTo>
                <a:lnTo>
                  <a:pt x="0" y="3382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748" y="638175"/>
            <a:ext cx="8949087" cy="6313336"/>
          </a:xfrm>
          <a:custGeom>
            <a:avLst/>
            <a:gdLst/>
            <a:ahLst/>
            <a:cxnLst/>
            <a:rect r="r" b="b" t="t" l="l"/>
            <a:pathLst>
              <a:path h="6313336" w="8949087">
                <a:moveTo>
                  <a:pt x="0" y="0"/>
                </a:moveTo>
                <a:lnTo>
                  <a:pt x="8949087" y="0"/>
                </a:lnTo>
                <a:lnTo>
                  <a:pt x="8949087" y="6313336"/>
                </a:lnTo>
                <a:lnTo>
                  <a:pt x="0" y="6313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8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339" y="638175"/>
            <a:ext cx="9399661" cy="4054917"/>
          </a:xfrm>
          <a:custGeom>
            <a:avLst/>
            <a:gdLst/>
            <a:ahLst/>
            <a:cxnLst/>
            <a:rect r="r" b="b" t="t" l="l"/>
            <a:pathLst>
              <a:path h="4054917" w="9399661">
                <a:moveTo>
                  <a:pt x="0" y="0"/>
                </a:moveTo>
                <a:lnTo>
                  <a:pt x="9399661" y="0"/>
                </a:lnTo>
                <a:lnTo>
                  <a:pt x="9399661" y="4054917"/>
                </a:lnTo>
                <a:lnTo>
                  <a:pt x="0" y="4054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9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86678" y="4811578"/>
            <a:ext cx="7872622" cy="5475422"/>
          </a:xfrm>
          <a:custGeom>
            <a:avLst/>
            <a:gdLst/>
            <a:ahLst/>
            <a:cxnLst/>
            <a:rect r="r" b="b" t="t" l="l"/>
            <a:pathLst>
              <a:path h="5475422" w="7872622">
                <a:moveTo>
                  <a:pt x="0" y="0"/>
                </a:moveTo>
                <a:lnTo>
                  <a:pt x="7872622" y="0"/>
                </a:lnTo>
                <a:lnTo>
                  <a:pt x="7872622" y="5475422"/>
                </a:lnTo>
                <a:lnTo>
                  <a:pt x="0" y="5475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143976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4 — Percentage of orders paid in installments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76300"/>
            <a:ext cx="9366892" cy="6382188"/>
          </a:xfrm>
          <a:custGeom>
            <a:avLst/>
            <a:gdLst/>
            <a:ahLst/>
            <a:cxnLst/>
            <a:rect r="r" b="b" t="t" l="l"/>
            <a:pathLst>
              <a:path h="6382188" w="9366892">
                <a:moveTo>
                  <a:pt x="0" y="0"/>
                </a:moveTo>
                <a:lnTo>
                  <a:pt x="9366892" y="0"/>
                </a:lnTo>
                <a:lnTo>
                  <a:pt x="9366892" y="6382187"/>
                </a:lnTo>
                <a:lnTo>
                  <a:pt x="0" y="6382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12169" y="4567394"/>
            <a:ext cx="8138941" cy="5730070"/>
          </a:xfrm>
          <a:custGeom>
            <a:avLst/>
            <a:gdLst/>
            <a:ahLst/>
            <a:cxnLst/>
            <a:rect r="r" b="b" t="t" l="l"/>
            <a:pathLst>
              <a:path h="5730070" w="8138941">
                <a:moveTo>
                  <a:pt x="0" y="0"/>
                </a:moveTo>
                <a:lnTo>
                  <a:pt x="8138941" y="0"/>
                </a:lnTo>
                <a:lnTo>
                  <a:pt x="8138941" y="5730070"/>
                </a:lnTo>
                <a:lnTo>
                  <a:pt x="0" y="5730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66892" y="0"/>
            <a:ext cx="8921108" cy="4567394"/>
          </a:xfrm>
          <a:custGeom>
            <a:avLst/>
            <a:gdLst/>
            <a:ahLst/>
            <a:cxnLst/>
            <a:rect r="r" b="b" t="t" l="l"/>
            <a:pathLst>
              <a:path h="4567394" w="8921108">
                <a:moveTo>
                  <a:pt x="0" y="0"/>
                </a:moveTo>
                <a:lnTo>
                  <a:pt x="8921108" y="0"/>
                </a:lnTo>
                <a:lnTo>
                  <a:pt x="8921108" y="4567394"/>
                </a:lnTo>
                <a:lnTo>
                  <a:pt x="0" y="456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655064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</a:t>
            </a: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— Customers from each state</a:t>
            </a: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8815372" cy="9648825"/>
          </a:xfrm>
          <a:custGeom>
            <a:avLst/>
            <a:gdLst/>
            <a:ahLst/>
            <a:cxnLst/>
            <a:rect r="r" b="b" t="t" l="l"/>
            <a:pathLst>
              <a:path h="9648825" w="8815372">
                <a:moveTo>
                  <a:pt x="0" y="0"/>
                </a:moveTo>
                <a:lnTo>
                  <a:pt x="8815372" y="0"/>
                </a:lnTo>
                <a:lnTo>
                  <a:pt x="8815372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29039" y="0"/>
            <a:ext cx="7858961" cy="5697150"/>
          </a:xfrm>
          <a:custGeom>
            <a:avLst/>
            <a:gdLst/>
            <a:ahLst/>
            <a:cxnLst/>
            <a:rect r="r" b="b" t="t" l="l"/>
            <a:pathLst>
              <a:path h="5697150" w="7858961">
                <a:moveTo>
                  <a:pt x="0" y="0"/>
                </a:moveTo>
                <a:lnTo>
                  <a:pt x="7858961" y="0"/>
                </a:lnTo>
                <a:lnTo>
                  <a:pt x="7858961" y="5697150"/>
                </a:lnTo>
                <a:lnTo>
                  <a:pt x="0" y="569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1239" y="5553302"/>
            <a:ext cx="9646761" cy="4733698"/>
          </a:xfrm>
          <a:custGeom>
            <a:avLst/>
            <a:gdLst/>
            <a:ahLst/>
            <a:cxnLst/>
            <a:rect r="r" b="b" t="t" l="l"/>
            <a:pathLst>
              <a:path h="4733698" w="9646761">
                <a:moveTo>
                  <a:pt x="0" y="0"/>
                </a:moveTo>
                <a:lnTo>
                  <a:pt x="9646761" y="0"/>
                </a:lnTo>
                <a:lnTo>
                  <a:pt x="9646761" y="4733698"/>
                </a:lnTo>
                <a:lnTo>
                  <a:pt x="0" y="473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655064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</a:t>
            </a: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mediate 1 — Orders per month in 2018</a:t>
            </a: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541" y="559869"/>
            <a:ext cx="6260197" cy="9727131"/>
          </a:xfrm>
          <a:custGeom>
            <a:avLst/>
            <a:gdLst/>
            <a:ahLst/>
            <a:cxnLst/>
            <a:rect r="r" b="b" t="t" l="l"/>
            <a:pathLst>
              <a:path h="9727131" w="6260197">
                <a:moveTo>
                  <a:pt x="0" y="0"/>
                </a:moveTo>
                <a:lnTo>
                  <a:pt x="6260198" y="0"/>
                </a:lnTo>
                <a:lnTo>
                  <a:pt x="6260198" y="9727131"/>
                </a:lnTo>
                <a:lnTo>
                  <a:pt x="0" y="9727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00814" y="559869"/>
            <a:ext cx="8754418" cy="9727131"/>
          </a:xfrm>
          <a:custGeom>
            <a:avLst/>
            <a:gdLst/>
            <a:ahLst/>
            <a:cxnLst/>
            <a:rect r="r" b="b" t="t" l="l"/>
            <a:pathLst>
              <a:path h="9727131" w="8754418">
                <a:moveTo>
                  <a:pt x="0" y="0"/>
                </a:moveTo>
                <a:lnTo>
                  <a:pt x="8754417" y="0"/>
                </a:lnTo>
                <a:lnTo>
                  <a:pt x="8754417" y="9727131"/>
                </a:lnTo>
                <a:lnTo>
                  <a:pt x="0" y="9727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381720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2 — Average products per order by customer city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31074"/>
            <a:ext cx="15867306" cy="9755926"/>
          </a:xfrm>
          <a:custGeom>
            <a:avLst/>
            <a:gdLst/>
            <a:ahLst/>
            <a:cxnLst/>
            <a:rect r="r" b="b" t="t" l="l"/>
            <a:pathLst>
              <a:path h="9755926" w="15867306">
                <a:moveTo>
                  <a:pt x="0" y="0"/>
                </a:moveTo>
                <a:lnTo>
                  <a:pt x="15867306" y="0"/>
                </a:lnTo>
                <a:lnTo>
                  <a:pt x="15867306" y="9755926"/>
                </a:lnTo>
                <a:lnTo>
                  <a:pt x="0" y="9755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85725"/>
            <a:ext cx="1381720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2 — Average products per order by customer city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62123"/>
            <a:ext cx="10133844" cy="4981256"/>
          </a:xfrm>
          <a:custGeom>
            <a:avLst/>
            <a:gdLst/>
            <a:ahLst/>
            <a:cxnLst/>
            <a:rect r="r" b="b" t="t" l="l"/>
            <a:pathLst>
              <a:path h="4981256" w="10133844">
                <a:moveTo>
                  <a:pt x="0" y="0"/>
                </a:moveTo>
                <a:lnTo>
                  <a:pt x="10133844" y="0"/>
                </a:lnTo>
                <a:lnTo>
                  <a:pt x="10133844" y="4981256"/>
                </a:lnTo>
                <a:lnTo>
                  <a:pt x="0" y="4981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84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443379"/>
            <a:ext cx="8527986" cy="4843621"/>
          </a:xfrm>
          <a:custGeom>
            <a:avLst/>
            <a:gdLst/>
            <a:ahLst/>
            <a:cxnLst/>
            <a:rect r="r" b="b" t="t" l="l"/>
            <a:pathLst>
              <a:path h="4843621" w="8527986">
                <a:moveTo>
                  <a:pt x="0" y="0"/>
                </a:moveTo>
                <a:lnTo>
                  <a:pt x="8527986" y="0"/>
                </a:lnTo>
                <a:lnTo>
                  <a:pt x="8527986" y="4843621"/>
                </a:lnTo>
                <a:lnTo>
                  <a:pt x="0" y="4843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4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27986" y="5624561"/>
            <a:ext cx="9647152" cy="4481258"/>
          </a:xfrm>
          <a:custGeom>
            <a:avLst/>
            <a:gdLst/>
            <a:ahLst/>
            <a:cxnLst/>
            <a:rect r="r" b="b" t="t" l="l"/>
            <a:pathLst>
              <a:path h="4481258" w="9647152">
                <a:moveTo>
                  <a:pt x="0" y="0"/>
                </a:moveTo>
                <a:lnTo>
                  <a:pt x="9647152" y="0"/>
                </a:lnTo>
                <a:lnTo>
                  <a:pt x="9647152" y="4481257"/>
                </a:lnTo>
                <a:lnTo>
                  <a:pt x="0" y="4481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335174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3 — Revenue percentage by category-by SQL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77557" y="1251311"/>
            <a:ext cx="7210443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b="true" sz="38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Approach: </a:t>
            </a:r>
            <a:r>
              <a:rPr lang="en-US" sz="3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 order items with product categories and aggregate the item prices by category. The same merge and aggregation logic is reproduced in Python.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7999453" cy="9648825"/>
          </a:xfrm>
          <a:custGeom>
            <a:avLst/>
            <a:gdLst/>
            <a:ahLst/>
            <a:cxnLst/>
            <a:rect r="r" b="b" t="t" l="l"/>
            <a:pathLst>
              <a:path h="9648825" w="7999453">
                <a:moveTo>
                  <a:pt x="0" y="0"/>
                </a:moveTo>
                <a:lnTo>
                  <a:pt x="7999453" y="0"/>
                </a:lnTo>
                <a:lnTo>
                  <a:pt x="7999453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11942" y="405001"/>
            <a:ext cx="9334408" cy="3707592"/>
          </a:xfrm>
          <a:custGeom>
            <a:avLst/>
            <a:gdLst/>
            <a:ahLst/>
            <a:cxnLst/>
            <a:rect r="r" b="b" t="t" l="l"/>
            <a:pathLst>
              <a:path h="3707592" w="9334408">
                <a:moveTo>
                  <a:pt x="0" y="0"/>
                </a:moveTo>
                <a:lnTo>
                  <a:pt x="9334408" y="0"/>
                </a:lnTo>
                <a:lnTo>
                  <a:pt x="9334408" y="3707592"/>
                </a:lnTo>
                <a:lnTo>
                  <a:pt x="0" y="3707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87812" y="4112593"/>
            <a:ext cx="8782668" cy="6206649"/>
          </a:xfrm>
          <a:custGeom>
            <a:avLst/>
            <a:gdLst/>
            <a:ahLst/>
            <a:cxnLst/>
            <a:rect r="r" b="b" t="t" l="l"/>
            <a:pathLst>
              <a:path h="6206649" w="8782668">
                <a:moveTo>
                  <a:pt x="0" y="0"/>
                </a:moveTo>
                <a:lnTo>
                  <a:pt x="8782668" y="0"/>
                </a:lnTo>
                <a:lnTo>
                  <a:pt x="8782668" y="6206649"/>
                </a:lnTo>
                <a:lnTo>
                  <a:pt x="0" y="6206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393648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3 — Revenue percentage by category-BY Python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8828861" cy="7449351"/>
          </a:xfrm>
          <a:custGeom>
            <a:avLst/>
            <a:gdLst/>
            <a:ahLst/>
            <a:cxnLst/>
            <a:rect r="r" b="b" t="t" l="l"/>
            <a:pathLst>
              <a:path h="7449351" w="8828861">
                <a:moveTo>
                  <a:pt x="0" y="0"/>
                </a:moveTo>
                <a:lnTo>
                  <a:pt x="8828861" y="0"/>
                </a:lnTo>
                <a:lnTo>
                  <a:pt x="8828861" y="7449351"/>
                </a:lnTo>
                <a:lnTo>
                  <a:pt x="0" y="7449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8861" y="1167488"/>
            <a:ext cx="9459139" cy="7310563"/>
          </a:xfrm>
          <a:custGeom>
            <a:avLst/>
            <a:gdLst/>
            <a:ahLst/>
            <a:cxnLst/>
            <a:rect r="r" b="b" t="t" l="l"/>
            <a:pathLst>
              <a:path h="7310563" w="9459139">
                <a:moveTo>
                  <a:pt x="0" y="0"/>
                </a:moveTo>
                <a:lnTo>
                  <a:pt x="9459139" y="0"/>
                </a:lnTo>
                <a:lnTo>
                  <a:pt x="9459139" y="7310563"/>
                </a:lnTo>
                <a:lnTo>
                  <a:pt x="0" y="7310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703191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4 — Correlation between product price and purchase count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0967600" cy="7307059"/>
          </a:xfrm>
          <a:custGeom>
            <a:avLst/>
            <a:gdLst/>
            <a:ahLst/>
            <a:cxnLst/>
            <a:rect r="r" b="b" t="t" l="l"/>
            <a:pathLst>
              <a:path h="7307059" w="10967600">
                <a:moveTo>
                  <a:pt x="0" y="0"/>
                </a:moveTo>
                <a:lnTo>
                  <a:pt x="10967600" y="0"/>
                </a:lnTo>
                <a:lnTo>
                  <a:pt x="10967600" y="7307059"/>
                </a:lnTo>
                <a:lnTo>
                  <a:pt x="0" y="7307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30278" y="3617330"/>
            <a:ext cx="11357722" cy="6522168"/>
          </a:xfrm>
          <a:custGeom>
            <a:avLst/>
            <a:gdLst/>
            <a:ahLst/>
            <a:cxnLst/>
            <a:rect r="r" b="b" t="t" l="l"/>
            <a:pathLst>
              <a:path h="6522168" w="11357722">
                <a:moveTo>
                  <a:pt x="0" y="0"/>
                </a:moveTo>
                <a:lnTo>
                  <a:pt x="11357722" y="0"/>
                </a:lnTo>
                <a:lnTo>
                  <a:pt x="11357722" y="6522167"/>
                </a:lnTo>
                <a:lnTo>
                  <a:pt x="0" y="6522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70752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4 — Correlation between product price and purchase count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99" y="638175"/>
            <a:ext cx="8627390" cy="5492188"/>
          </a:xfrm>
          <a:custGeom>
            <a:avLst/>
            <a:gdLst/>
            <a:ahLst/>
            <a:cxnLst/>
            <a:rect r="r" b="b" t="t" l="l"/>
            <a:pathLst>
              <a:path h="5492188" w="8627390">
                <a:moveTo>
                  <a:pt x="0" y="0"/>
                </a:moveTo>
                <a:lnTo>
                  <a:pt x="8627390" y="0"/>
                </a:lnTo>
                <a:lnTo>
                  <a:pt x="8627390" y="5492188"/>
                </a:lnTo>
                <a:lnTo>
                  <a:pt x="0" y="549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05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39732" y="638175"/>
            <a:ext cx="10787467" cy="9381078"/>
          </a:xfrm>
          <a:custGeom>
            <a:avLst/>
            <a:gdLst/>
            <a:ahLst/>
            <a:cxnLst/>
            <a:rect r="r" b="b" t="t" l="l"/>
            <a:pathLst>
              <a:path h="9381078" w="10787467">
                <a:moveTo>
                  <a:pt x="0" y="0"/>
                </a:moveTo>
                <a:lnTo>
                  <a:pt x="10787467" y="0"/>
                </a:lnTo>
                <a:lnTo>
                  <a:pt x="10787467" y="9381078"/>
                </a:lnTo>
                <a:lnTo>
                  <a:pt x="0" y="938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360301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5 — Top 3 customers by spending in each year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1085" y="2784286"/>
            <a:ext cx="10646915" cy="7502714"/>
          </a:xfrm>
          <a:custGeom>
            <a:avLst/>
            <a:gdLst/>
            <a:ahLst/>
            <a:cxnLst/>
            <a:rect r="r" b="b" t="t" l="l"/>
            <a:pathLst>
              <a:path h="7502714" w="10646915">
                <a:moveTo>
                  <a:pt x="0" y="0"/>
                </a:moveTo>
                <a:lnTo>
                  <a:pt x="10646915" y="0"/>
                </a:lnTo>
                <a:lnTo>
                  <a:pt x="10646915" y="7502714"/>
                </a:lnTo>
                <a:lnTo>
                  <a:pt x="0" y="7502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85725"/>
            <a:ext cx="1360301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5 — Top 3 customers by spending in each year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638175"/>
            <a:ext cx="7485909" cy="5586967"/>
          </a:xfrm>
          <a:custGeom>
            <a:avLst/>
            <a:gdLst/>
            <a:ahLst/>
            <a:cxnLst/>
            <a:rect r="r" b="b" t="t" l="l"/>
            <a:pathLst>
              <a:path h="5586967" w="7485909">
                <a:moveTo>
                  <a:pt x="0" y="0"/>
                </a:moveTo>
                <a:lnTo>
                  <a:pt x="7485909" y="0"/>
                </a:lnTo>
                <a:lnTo>
                  <a:pt x="7485909" y="5586967"/>
                </a:lnTo>
                <a:lnTo>
                  <a:pt x="0" y="5586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225142"/>
            <a:ext cx="6977691" cy="4061858"/>
          </a:xfrm>
          <a:custGeom>
            <a:avLst/>
            <a:gdLst/>
            <a:ahLst/>
            <a:cxnLst/>
            <a:rect r="r" b="b" t="t" l="l"/>
            <a:pathLst>
              <a:path h="4061858" w="6977691">
                <a:moveTo>
                  <a:pt x="0" y="0"/>
                </a:moveTo>
                <a:lnTo>
                  <a:pt x="6977691" y="0"/>
                </a:lnTo>
                <a:lnTo>
                  <a:pt x="6977691" y="4061858"/>
                </a:lnTo>
                <a:lnTo>
                  <a:pt x="0" y="4061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942" y="638175"/>
            <a:ext cx="8182267" cy="6483995"/>
          </a:xfrm>
          <a:custGeom>
            <a:avLst/>
            <a:gdLst/>
            <a:ahLst/>
            <a:cxnLst/>
            <a:rect r="r" b="b" t="t" l="l"/>
            <a:pathLst>
              <a:path h="6483995" w="8182267">
                <a:moveTo>
                  <a:pt x="0" y="0"/>
                </a:moveTo>
                <a:lnTo>
                  <a:pt x="8182267" y="0"/>
                </a:lnTo>
                <a:lnTo>
                  <a:pt x="8182267" y="6483995"/>
                </a:lnTo>
                <a:lnTo>
                  <a:pt x="0" y="6483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8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2846" y="792323"/>
            <a:ext cx="6720508" cy="6175700"/>
          </a:xfrm>
          <a:custGeom>
            <a:avLst/>
            <a:gdLst/>
            <a:ahLst/>
            <a:cxnLst/>
            <a:rect r="r" b="b" t="t" l="l"/>
            <a:pathLst>
              <a:path h="6175700" w="6720508">
                <a:moveTo>
                  <a:pt x="0" y="0"/>
                </a:moveTo>
                <a:lnTo>
                  <a:pt x="6720508" y="0"/>
                </a:lnTo>
                <a:lnTo>
                  <a:pt x="6720508" y="6175699"/>
                </a:lnTo>
                <a:lnTo>
                  <a:pt x="0" y="6175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11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2133" y="7597197"/>
            <a:ext cx="16767167" cy="2219926"/>
          </a:xfrm>
          <a:custGeom>
            <a:avLst/>
            <a:gdLst/>
            <a:ahLst/>
            <a:cxnLst/>
            <a:rect r="r" b="b" t="t" l="l"/>
            <a:pathLst>
              <a:path h="2219926" w="16767167">
                <a:moveTo>
                  <a:pt x="0" y="0"/>
                </a:moveTo>
                <a:lnTo>
                  <a:pt x="16767167" y="0"/>
                </a:lnTo>
                <a:lnTo>
                  <a:pt x="16767167" y="2219926"/>
                </a:lnTo>
                <a:lnTo>
                  <a:pt x="0" y="2219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489650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1 — Moving Average of Order Values for Each Customer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8606960" cy="8124877"/>
          </a:xfrm>
          <a:custGeom>
            <a:avLst/>
            <a:gdLst/>
            <a:ahLst/>
            <a:cxnLst/>
            <a:rect r="r" b="b" t="t" l="l"/>
            <a:pathLst>
              <a:path h="8124877" w="8606960">
                <a:moveTo>
                  <a:pt x="0" y="0"/>
                </a:moveTo>
                <a:lnTo>
                  <a:pt x="8606960" y="0"/>
                </a:lnTo>
                <a:lnTo>
                  <a:pt x="8606960" y="8124877"/>
                </a:lnTo>
                <a:lnTo>
                  <a:pt x="0" y="8124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06960" y="1407706"/>
            <a:ext cx="9681040" cy="6026253"/>
          </a:xfrm>
          <a:custGeom>
            <a:avLst/>
            <a:gdLst/>
            <a:ahLst/>
            <a:cxnLst/>
            <a:rect r="r" b="b" t="t" l="l"/>
            <a:pathLst>
              <a:path h="6026253" w="9681040">
                <a:moveTo>
                  <a:pt x="0" y="0"/>
                </a:moveTo>
                <a:lnTo>
                  <a:pt x="9681040" y="0"/>
                </a:lnTo>
                <a:lnTo>
                  <a:pt x="9681040" y="6026253"/>
                </a:lnTo>
                <a:lnTo>
                  <a:pt x="0" y="6026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22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489650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1 — Moving Average of Order Values for Each Customer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50147" y="638175"/>
            <a:ext cx="11237853" cy="5334376"/>
          </a:xfrm>
          <a:custGeom>
            <a:avLst/>
            <a:gdLst/>
            <a:ahLst/>
            <a:cxnLst/>
            <a:rect r="r" b="b" t="t" l="l"/>
            <a:pathLst>
              <a:path h="5334376" w="11237853">
                <a:moveTo>
                  <a:pt x="0" y="0"/>
                </a:moveTo>
                <a:lnTo>
                  <a:pt x="11237853" y="0"/>
                </a:lnTo>
                <a:lnTo>
                  <a:pt x="11237853" y="5334376"/>
                </a:lnTo>
                <a:lnTo>
                  <a:pt x="0" y="533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8175"/>
            <a:ext cx="7158432" cy="6609882"/>
          </a:xfrm>
          <a:custGeom>
            <a:avLst/>
            <a:gdLst/>
            <a:ahLst/>
            <a:cxnLst/>
            <a:rect r="r" b="b" t="t" l="l"/>
            <a:pathLst>
              <a:path h="6609882" w="7158432">
                <a:moveTo>
                  <a:pt x="0" y="0"/>
                </a:moveTo>
                <a:lnTo>
                  <a:pt x="7158432" y="0"/>
                </a:lnTo>
                <a:lnTo>
                  <a:pt x="7158432" y="6609882"/>
                </a:lnTo>
                <a:lnTo>
                  <a:pt x="0" y="6609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7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489650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1 — Moving Average of Order Values for Each Customer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599" y="8025605"/>
            <a:ext cx="17984802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Approach / Logic: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First, order-item prices are aggregated at the order level to calculate total spending for each order. The data is then grouped by customer_unique_id and sorted by purchase date. Finally, the current order and previous two orders are used to calculate the 3-order moving average.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7550674" cy="6641797"/>
          </a:xfrm>
          <a:custGeom>
            <a:avLst/>
            <a:gdLst/>
            <a:ahLst/>
            <a:cxnLst/>
            <a:rect r="r" b="b" t="t" l="l"/>
            <a:pathLst>
              <a:path h="6641797" w="7550674">
                <a:moveTo>
                  <a:pt x="0" y="0"/>
                </a:moveTo>
                <a:lnTo>
                  <a:pt x="7550674" y="0"/>
                </a:lnTo>
                <a:lnTo>
                  <a:pt x="7550674" y="6641797"/>
                </a:lnTo>
                <a:lnTo>
                  <a:pt x="0" y="6641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638175"/>
            <a:ext cx="7033545" cy="9540873"/>
          </a:xfrm>
          <a:custGeom>
            <a:avLst/>
            <a:gdLst/>
            <a:ahLst/>
            <a:cxnLst/>
            <a:rect r="r" b="b" t="t" l="l"/>
            <a:pathLst>
              <a:path h="9540873" w="7033545">
                <a:moveTo>
                  <a:pt x="0" y="0"/>
                </a:moveTo>
                <a:lnTo>
                  <a:pt x="7033545" y="0"/>
                </a:lnTo>
                <a:lnTo>
                  <a:pt x="7033545" y="9540873"/>
                </a:lnTo>
                <a:lnTo>
                  <a:pt x="0" y="954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283684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2 — Cumulative Sales per Month for Each Year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7532131" cy="9648825"/>
          </a:xfrm>
          <a:custGeom>
            <a:avLst/>
            <a:gdLst/>
            <a:ahLst/>
            <a:cxnLst/>
            <a:rect r="r" b="b" t="t" l="l"/>
            <a:pathLst>
              <a:path h="9648825" w="7532131">
                <a:moveTo>
                  <a:pt x="0" y="0"/>
                </a:moveTo>
                <a:lnTo>
                  <a:pt x="7532131" y="0"/>
                </a:lnTo>
                <a:lnTo>
                  <a:pt x="7532131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77351" y="3245569"/>
            <a:ext cx="10403661" cy="4142375"/>
          </a:xfrm>
          <a:custGeom>
            <a:avLst/>
            <a:gdLst/>
            <a:ahLst/>
            <a:cxnLst/>
            <a:rect r="r" b="b" t="t" l="l"/>
            <a:pathLst>
              <a:path h="4142375" w="10403661">
                <a:moveTo>
                  <a:pt x="0" y="0"/>
                </a:moveTo>
                <a:lnTo>
                  <a:pt x="10403661" y="0"/>
                </a:lnTo>
                <a:lnTo>
                  <a:pt x="10403661" y="4142375"/>
                </a:lnTo>
                <a:lnTo>
                  <a:pt x="0" y="4142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283684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2 — Cumulative Sales per Month for Each Year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203" y="805113"/>
            <a:ext cx="6665372" cy="5601476"/>
          </a:xfrm>
          <a:custGeom>
            <a:avLst/>
            <a:gdLst/>
            <a:ahLst/>
            <a:cxnLst/>
            <a:rect r="r" b="b" t="t" l="l"/>
            <a:pathLst>
              <a:path h="5601476" w="6665372">
                <a:moveTo>
                  <a:pt x="0" y="0"/>
                </a:moveTo>
                <a:lnTo>
                  <a:pt x="6665373" y="0"/>
                </a:lnTo>
                <a:lnTo>
                  <a:pt x="6665373" y="5601477"/>
                </a:lnTo>
                <a:lnTo>
                  <a:pt x="0" y="5601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7576" y="1381221"/>
            <a:ext cx="11550424" cy="8118693"/>
          </a:xfrm>
          <a:custGeom>
            <a:avLst/>
            <a:gdLst/>
            <a:ahLst/>
            <a:cxnLst/>
            <a:rect r="r" b="b" t="t" l="l"/>
            <a:pathLst>
              <a:path h="8118693" w="11550424">
                <a:moveTo>
                  <a:pt x="0" y="0"/>
                </a:moveTo>
                <a:lnTo>
                  <a:pt x="11550424" y="0"/>
                </a:lnTo>
                <a:lnTo>
                  <a:pt x="11550424" y="8118693"/>
                </a:lnTo>
                <a:lnTo>
                  <a:pt x="0" y="8118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85725"/>
            <a:ext cx="1283684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2 — Cumulative Sales per Month for Each Year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5638578" cy="4382654"/>
          </a:xfrm>
          <a:custGeom>
            <a:avLst/>
            <a:gdLst/>
            <a:ahLst/>
            <a:cxnLst/>
            <a:rect r="r" b="b" t="t" l="l"/>
            <a:pathLst>
              <a:path h="4382654" w="5638578">
                <a:moveTo>
                  <a:pt x="0" y="0"/>
                </a:moveTo>
                <a:lnTo>
                  <a:pt x="5638578" y="0"/>
                </a:lnTo>
                <a:lnTo>
                  <a:pt x="5638578" y="4382654"/>
                </a:lnTo>
                <a:lnTo>
                  <a:pt x="0" y="4382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56" y="4900982"/>
            <a:ext cx="4590356" cy="5386018"/>
          </a:xfrm>
          <a:custGeom>
            <a:avLst/>
            <a:gdLst/>
            <a:ahLst/>
            <a:cxnLst/>
            <a:rect r="r" b="b" t="t" l="l"/>
            <a:pathLst>
              <a:path h="5386018" w="4590356">
                <a:moveTo>
                  <a:pt x="0" y="0"/>
                </a:moveTo>
                <a:lnTo>
                  <a:pt x="4590357" y="0"/>
                </a:lnTo>
                <a:lnTo>
                  <a:pt x="4590357" y="5386018"/>
                </a:lnTo>
                <a:lnTo>
                  <a:pt x="0" y="5386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92137" y="877101"/>
            <a:ext cx="9667163" cy="8930446"/>
          </a:xfrm>
          <a:custGeom>
            <a:avLst/>
            <a:gdLst/>
            <a:ahLst/>
            <a:cxnLst/>
            <a:rect r="r" b="b" t="t" l="l"/>
            <a:pathLst>
              <a:path h="8930446" w="9667163">
                <a:moveTo>
                  <a:pt x="0" y="0"/>
                </a:moveTo>
                <a:lnTo>
                  <a:pt x="9667163" y="0"/>
                </a:lnTo>
                <a:lnTo>
                  <a:pt x="9667163" y="8930446"/>
                </a:lnTo>
                <a:lnTo>
                  <a:pt x="0" y="8930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274254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3 — Year-over-Year Growth Rate of Total Sales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7949820" cy="8620125"/>
          </a:xfrm>
          <a:custGeom>
            <a:avLst/>
            <a:gdLst/>
            <a:ahLst/>
            <a:cxnLst/>
            <a:rect r="r" b="b" t="t" l="l"/>
            <a:pathLst>
              <a:path h="8620125" w="7949820">
                <a:moveTo>
                  <a:pt x="0" y="0"/>
                </a:moveTo>
                <a:lnTo>
                  <a:pt x="7949820" y="0"/>
                </a:lnTo>
                <a:lnTo>
                  <a:pt x="7949820" y="8620125"/>
                </a:lnTo>
                <a:lnTo>
                  <a:pt x="0" y="862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98257" y="319088"/>
            <a:ext cx="6422891" cy="5466594"/>
          </a:xfrm>
          <a:custGeom>
            <a:avLst/>
            <a:gdLst/>
            <a:ahLst/>
            <a:cxnLst/>
            <a:rect r="r" b="b" t="t" l="l"/>
            <a:pathLst>
              <a:path h="5466594" w="6422891">
                <a:moveTo>
                  <a:pt x="0" y="0"/>
                </a:moveTo>
                <a:lnTo>
                  <a:pt x="6422890" y="0"/>
                </a:lnTo>
                <a:lnTo>
                  <a:pt x="6422890" y="5466593"/>
                </a:lnTo>
                <a:lnTo>
                  <a:pt x="0" y="5466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49820" y="4590791"/>
            <a:ext cx="9986783" cy="5599761"/>
          </a:xfrm>
          <a:custGeom>
            <a:avLst/>
            <a:gdLst/>
            <a:ahLst/>
            <a:cxnLst/>
            <a:rect r="r" b="b" t="t" l="l"/>
            <a:pathLst>
              <a:path h="5599761" w="9986783">
                <a:moveTo>
                  <a:pt x="0" y="0"/>
                </a:moveTo>
                <a:lnTo>
                  <a:pt x="9986783" y="0"/>
                </a:lnTo>
                <a:lnTo>
                  <a:pt x="9986783" y="5599761"/>
                </a:lnTo>
                <a:lnTo>
                  <a:pt x="0" y="5599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274254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3 — Year-over-Year Growth Rate of Total Sales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8173352" cy="7809769"/>
          </a:xfrm>
          <a:custGeom>
            <a:avLst/>
            <a:gdLst/>
            <a:ahLst/>
            <a:cxnLst/>
            <a:rect r="r" b="b" t="t" l="l"/>
            <a:pathLst>
              <a:path h="7809769" w="8173352">
                <a:moveTo>
                  <a:pt x="0" y="0"/>
                </a:moveTo>
                <a:lnTo>
                  <a:pt x="8173352" y="0"/>
                </a:lnTo>
                <a:lnTo>
                  <a:pt x="8173352" y="7809769"/>
                </a:lnTo>
                <a:lnTo>
                  <a:pt x="0" y="780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73352" y="638175"/>
            <a:ext cx="8082068" cy="7219139"/>
          </a:xfrm>
          <a:custGeom>
            <a:avLst/>
            <a:gdLst/>
            <a:ahLst/>
            <a:cxnLst/>
            <a:rect r="r" b="b" t="t" l="l"/>
            <a:pathLst>
              <a:path h="7219139" w="8082068">
                <a:moveTo>
                  <a:pt x="0" y="0"/>
                </a:moveTo>
                <a:lnTo>
                  <a:pt x="8082068" y="0"/>
                </a:lnTo>
                <a:lnTo>
                  <a:pt x="8082068" y="7219139"/>
                </a:lnTo>
                <a:lnTo>
                  <a:pt x="0" y="7219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51946" y="7473747"/>
            <a:ext cx="8236580" cy="2813253"/>
          </a:xfrm>
          <a:custGeom>
            <a:avLst/>
            <a:gdLst/>
            <a:ahLst/>
            <a:cxnLst/>
            <a:rect r="r" b="b" t="t" l="l"/>
            <a:pathLst>
              <a:path h="2813253" w="8236580">
                <a:moveTo>
                  <a:pt x="0" y="0"/>
                </a:moveTo>
                <a:lnTo>
                  <a:pt x="8236580" y="0"/>
                </a:lnTo>
                <a:lnTo>
                  <a:pt x="8236580" y="2813253"/>
                </a:lnTo>
                <a:lnTo>
                  <a:pt x="0" y="2813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301519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4 — Customer Retention Rate Within 6 Months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2471"/>
            <a:ext cx="10533659" cy="6660990"/>
          </a:xfrm>
          <a:custGeom>
            <a:avLst/>
            <a:gdLst/>
            <a:ahLst/>
            <a:cxnLst/>
            <a:rect r="r" b="b" t="t" l="l"/>
            <a:pathLst>
              <a:path h="6660990" w="10533659">
                <a:moveTo>
                  <a:pt x="0" y="0"/>
                </a:moveTo>
                <a:lnTo>
                  <a:pt x="10533659" y="0"/>
                </a:lnTo>
                <a:lnTo>
                  <a:pt x="10533659" y="6660990"/>
                </a:lnTo>
                <a:lnTo>
                  <a:pt x="0" y="666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11061" y="2582001"/>
            <a:ext cx="7893467" cy="7704999"/>
          </a:xfrm>
          <a:custGeom>
            <a:avLst/>
            <a:gdLst/>
            <a:ahLst/>
            <a:cxnLst/>
            <a:rect r="r" b="b" t="t" l="l"/>
            <a:pathLst>
              <a:path h="7704999" w="7893467">
                <a:moveTo>
                  <a:pt x="0" y="0"/>
                </a:moveTo>
                <a:lnTo>
                  <a:pt x="7893467" y="0"/>
                </a:lnTo>
                <a:lnTo>
                  <a:pt x="7893467" y="7704999"/>
                </a:lnTo>
                <a:lnTo>
                  <a:pt x="0" y="7704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8571"/>
            <a:ext cx="1301519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4 — Customer Retention Rate Within 6 Months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75"/>
            <a:ext cx="6143237" cy="4704540"/>
          </a:xfrm>
          <a:custGeom>
            <a:avLst/>
            <a:gdLst/>
            <a:ahLst/>
            <a:cxnLst/>
            <a:rect r="r" b="b" t="t" l="l"/>
            <a:pathLst>
              <a:path h="4704540" w="6143237">
                <a:moveTo>
                  <a:pt x="0" y="0"/>
                </a:moveTo>
                <a:lnTo>
                  <a:pt x="6143237" y="0"/>
                </a:lnTo>
                <a:lnTo>
                  <a:pt x="6143237" y="4704540"/>
                </a:lnTo>
                <a:lnTo>
                  <a:pt x="0" y="4704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6512" y="4690400"/>
            <a:ext cx="4670266" cy="5596600"/>
          </a:xfrm>
          <a:custGeom>
            <a:avLst/>
            <a:gdLst/>
            <a:ahLst/>
            <a:cxnLst/>
            <a:rect r="r" b="b" t="t" l="l"/>
            <a:pathLst>
              <a:path h="5596600" w="4670266">
                <a:moveTo>
                  <a:pt x="0" y="0"/>
                </a:moveTo>
                <a:lnTo>
                  <a:pt x="4670267" y="0"/>
                </a:lnTo>
                <a:lnTo>
                  <a:pt x="4670267" y="5596600"/>
                </a:lnTo>
                <a:lnTo>
                  <a:pt x="0" y="5596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5655" y="2633717"/>
            <a:ext cx="12222345" cy="6026589"/>
          </a:xfrm>
          <a:custGeom>
            <a:avLst/>
            <a:gdLst/>
            <a:ahLst/>
            <a:cxnLst/>
            <a:rect r="r" b="b" t="t" l="l"/>
            <a:pathLst>
              <a:path h="6026589" w="12222345">
                <a:moveTo>
                  <a:pt x="0" y="0"/>
                </a:moveTo>
                <a:lnTo>
                  <a:pt x="12222345" y="0"/>
                </a:lnTo>
                <a:lnTo>
                  <a:pt x="12222345" y="6026589"/>
                </a:lnTo>
                <a:lnTo>
                  <a:pt x="0" y="602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85725"/>
            <a:ext cx="172593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5 — Top 3 Customers Who Spent the Most Money in Each Year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72917"/>
            <a:ext cx="7546467" cy="6454444"/>
          </a:xfrm>
          <a:custGeom>
            <a:avLst/>
            <a:gdLst/>
            <a:ahLst/>
            <a:cxnLst/>
            <a:rect r="r" b="b" t="t" l="l"/>
            <a:pathLst>
              <a:path h="6454444" w="7546467">
                <a:moveTo>
                  <a:pt x="0" y="0"/>
                </a:moveTo>
                <a:lnTo>
                  <a:pt x="7546467" y="0"/>
                </a:lnTo>
                <a:lnTo>
                  <a:pt x="7546467" y="6454444"/>
                </a:lnTo>
                <a:lnTo>
                  <a:pt x="0" y="6454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6" t="0" r="-247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85725"/>
            <a:ext cx="1802813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5 — Top 3 Customers Who Spent the Most Money in Each Year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546467" y="472917"/>
            <a:ext cx="6934326" cy="5823169"/>
          </a:xfrm>
          <a:custGeom>
            <a:avLst/>
            <a:gdLst/>
            <a:ahLst/>
            <a:cxnLst/>
            <a:rect r="r" b="b" t="t" l="l"/>
            <a:pathLst>
              <a:path h="5823169" w="6934326">
                <a:moveTo>
                  <a:pt x="0" y="0"/>
                </a:moveTo>
                <a:lnTo>
                  <a:pt x="6934325" y="0"/>
                </a:lnTo>
                <a:lnTo>
                  <a:pt x="693432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9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63919" y="4955607"/>
            <a:ext cx="7419901" cy="5331393"/>
          </a:xfrm>
          <a:custGeom>
            <a:avLst/>
            <a:gdLst/>
            <a:ahLst/>
            <a:cxnLst/>
            <a:rect r="r" b="b" t="t" l="l"/>
            <a:pathLst>
              <a:path h="5331393" w="7419901">
                <a:moveTo>
                  <a:pt x="0" y="0"/>
                </a:moveTo>
                <a:lnTo>
                  <a:pt x="7419901" y="0"/>
                </a:lnTo>
                <a:lnTo>
                  <a:pt x="7419901" y="5331393"/>
                </a:lnTo>
                <a:lnTo>
                  <a:pt x="0" y="5331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560" y="304800"/>
            <a:ext cx="16440388" cy="996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4299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 &amp; Assumptions</a:t>
            </a:r>
          </a:p>
          <a:p>
            <a:pPr algn="l" marL="690885" indent="-345443" lvl="1">
              <a:lnSpc>
                <a:spcPts val="3840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b="true" sz="3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joins to combine related datasets.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filtering, grouping and aggregation.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window functions for advanced analysis.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ranking and time-based calculations where required.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b="true" sz="3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Pandas for data preparation and analysis.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Performed equivalent filtering, grouping and aggregation.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rolling calculations for moving averages.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percentage-change calculations for YoY analysis.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Compared Python results with corresponding SQL outputs.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  <a:p>
            <a:pPr algn="l" marL="690885" indent="-345443" lvl="1">
              <a:lnSpc>
                <a:spcPts val="3840"/>
              </a:lnSpc>
              <a:spcBef>
                <a:spcPct val="0"/>
              </a:spcBef>
              <a:buAutoNum type="arabicPeriod" startAt="1"/>
            </a:pPr>
            <a:r>
              <a:rPr lang="en-US" b="true" sz="3200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</a:t>
            </a:r>
            <a:r>
              <a:rPr lang="en-US" b="true" sz="3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ey Assumptions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Order-level spending is calculated using the relevant order-item price values.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Customer-level analysis uses customer_unique_id where unique customer identification is required.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Time-based analysis uses the order purchase timestamp.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Retention is evaluated using the defined six-month period.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SQL and Python calculations follow equivalent business logic for validation.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442913"/>
            <a:ext cx="18288000" cy="1006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  <a:spcBef>
                <a:spcPct val="0"/>
              </a:spcBef>
            </a:pPr>
            <a:r>
              <a:rPr lang="en-US" b="true" sz="5199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  <a:p>
            <a:pPr algn="l">
              <a:lnSpc>
                <a:spcPts val="5759"/>
              </a:lnSpc>
              <a:spcBef>
                <a:spcPct val="0"/>
              </a:spcBef>
            </a:pP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demonstrates how SQL and Python can be used together for comprehensive e-commerce data analysis.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covered basic, intermediate, and advanced analytical questions involving: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Sales performance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categories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behavior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Revenue trends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retention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Spending patterns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rankings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By implementing the analysis in both SQL and Python and comparing the outputs, the project provides a structured approach to cross-tool validation and analytical accuracy.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validated results were then used to derive meaningful business insights from the e-commerce dataset.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04707" y="3639789"/>
            <a:ext cx="6888760" cy="215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22"/>
              </a:lnSpc>
            </a:pPr>
            <a:r>
              <a:rPr lang="en-US" sz="12435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41198" y="6298483"/>
            <a:ext cx="688876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~</a:t>
            </a: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Ankita Sarkar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DAHWLjIv1Iw</dc:identifier>
  <dcterms:modified xsi:type="dcterms:W3CDTF">2011-08-01T06:04:30Z</dcterms:modified>
  <cp:revision>1</cp:revision>
  <dc:title>São Paulo (SP): 40,302 unique customers. Rio de Janeiro (RJ): 12,384. Minas Gerais (MG): 11,259. The customer base is concentrated in a small group of major states. State-level segmentation can support future marketing, service and regional performance</dc:title>
</cp:coreProperties>
</file>