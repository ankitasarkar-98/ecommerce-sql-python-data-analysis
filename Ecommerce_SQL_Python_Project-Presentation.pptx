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 Bold" charset="1" panose="020F0702030404030204"/>
      <p:regular r:id="rId29"/>
    </p:embeddedFont>
    <p:embeddedFont>
      <p:font typeface="Calibri (MS)" charset="1" panose="020F050202020403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4465" y="637280"/>
            <a:ext cx="12157119" cy="210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079"/>
              </a:lnSpc>
            </a:pPr>
            <a:r>
              <a:rPr lang="en-US" sz="10899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E-commerce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95927" y="7584748"/>
            <a:ext cx="356306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~By Ankita Sarkar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47153" y="3789493"/>
            <a:ext cx="13393817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</a:pPr>
            <a:r>
              <a:rPr lang="en-US" sz="4098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Project:</a:t>
            </a:r>
            <a:r>
              <a:rPr lang="en-US" sz="409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E-Commerce Sales &amp; Customer Analysis</a:t>
            </a:r>
          </a:p>
          <a:p>
            <a:pPr algn="l">
              <a:lnSpc>
                <a:spcPts val="4919"/>
              </a:lnSpc>
            </a:pPr>
            <a:r>
              <a:rPr lang="en-US" sz="4098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Tools: </a:t>
            </a:r>
            <a:r>
              <a:rPr lang="en-US" sz="409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&amp; Python</a:t>
            </a:r>
          </a:p>
          <a:p>
            <a:pPr algn="l">
              <a:lnSpc>
                <a:spcPts val="4919"/>
              </a:lnSpc>
            </a:pPr>
            <a:r>
              <a:rPr lang="en-US" sz="4098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Focus: </a:t>
            </a:r>
            <a:r>
              <a:rPr lang="en-US" sz="409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Analysis, Business Insights &amp; Cross-Tool Validation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820" y="160020"/>
            <a:ext cx="5727678" cy="110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5820" y="1524000"/>
            <a:ext cx="15727680" cy="852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analyzes an e-commerce dataset to understand customer behavior, sales performance, product performance, and purchasing patterns using both SQL and Python.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same analytical questions were solved independently using SQL queries and Python-based data analysis.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6239"/>
              </a:lnSpc>
            </a:pPr>
            <a:r>
              <a:rPr lang="en-US" sz="519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  <a:r>
              <a:rPr lang="en-US" b="true" sz="5198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 customer and order information.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sales and product-category performance.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customer purchasing patterns.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 advanced sales and customer analysis.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Reproduce SQL analysis using Python.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SQL and Python outputs for consistency and accuracy.</a:t>
            </a:r>
          </a:p>
          <a:p>
            <a:pPr algn="l" marL="822960" indent="-274320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that both approaches produce equivalent results.</a:t>
            </a:r>
          </a:p>
          <a:p>
            <a:pPr algn="l" marL="822960" indent="-274320" lvl="2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5820" y="217170"/>
            <a:ext cx="1655064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Executive Summary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976" y="1707356"/>
            <a:ext cx="3168968" cy="1728788"/>
          </a:xfrm>
          <a:custGeom>
            <a:avLst/>
            <a:gdLst/>
            <a:ahLst/>
            <a:cxnLst/>
            <a:rect r="r" b="b" t="t" l="l"/>
            <a:pathLst>
              <a:path h="1728788" w="3168968">
                <a:moveTo>
                  <a:pt x="0" y="0"/>
                </a:moveTo>
                <a:lnTo>
                  <a:pt x="3168968" y="0"/>
                </a:lnTo>
                <a:lnTo>
                  <a:pt x="3168968" y="1728788"/>
                </a:lnTo>
                <a:lnTo>
                  <a:pt x="0" y="172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976" y="1707356"/>
            <a:ext cx="3168967" cy="1728788"/>
            <a:chOff x="0" y="0"/>
            <a:chExt cx="4225290" cy="2305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042" t="0" r="-2004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2976" y="1657350"/>
            <a:ext cx="3168967" cy="1778794"/>
            <a:chOff x="0" y="0"/>
            <a:chExt cx="4225290" cy="2371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25289" cy="2371726"/>
            </a:xfrm>
            <a:custGeom>
              <a:avLst/>
              <a:gdLst/>
              <a:ahLst/>
              <a:cxnLst/>
              <a:rect r="r" b="b" t="t" l="l"/>
              <a:pathLst>
                <a:path h="2371726" w="4225289">
                  <a:moveTo>
                    <a:pt x="0" y="0"/>
                  </a:moveTo>
                  <a:lnTo>
                    <a:pt x="4225289" y="0"/>
                  </a:lnTo>
                  <a:lnTo>
                    <a:pt x="4225289" y="2371726"/>
                  </a:lnTo>
                  <a:lnTo>
                    <a:pt x="0" y="23717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018" t="0" r="-22018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22529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4,119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cities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81976" y="1707356"/>
            <a:ext cx="3168967" cy="1728788"/>
          </a:xfrm>
          <a:custGeom>
            <a:avLst/>
            <a:gdLst/>
            <a:ahLst/>
            <a:cxnLst/>
            <a:rect r="r" b="b" t="t" l="l"/>
            <a:pathLst>
              <a:path h="1728788" w="3168967">
                <a:moveTo>
                  <a:pt x="0" y="0"/>
                </a:moveTo>
                <a:lnTo>
                  <a:pt x="3168968" y="0"/>
                </a:lnTo>
                <a:lnTo>
                  <a:pt x="3168968" y="1728788"/>
                </a:lnTo>
                <a:lnTo>
                  <a:pt x="0" y="172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81976" y="1707356"/>
            <a:ext cx="3168967" cy="1728788"/>
            <a:chOff x="0" y="0"/>
            <a:chExt cx="4225290" cy="2305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042" t="0" r="-2004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381976" y="1657350"/>
            <a:ext cx="3168967" cy="1778794"/>
            <a:chOff x="0" y="0"/>
            <a:chExt cx="4225290" cy="2371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25289" cy="2371726"/>
            </a:xfrm>
            <a:custGeom>
              <a:avLst/>
              <a:gdLst/>
              <a:ahLst/>
              <a:cxnLst/>
              <a:rect r="r" b="b" t="t" l="l"/>
              <a:pathLst>
                <a:path h="2371726" w="4225289">
                  <a:moveTo>
                    <a:pt x="0" y="0"/>
                  </a:moveTo>
                  <a:lnTo>
                    <a:pt x="4225289" y="0"/>
                  </a:lnTo>
                  <a:lnTo>
                    <a:pt x="4225289" y="2371726"/>
                  </a:lnTo>
                  <a:lnTo>
                    <a:pt x="0" y="23717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018" t="0" r="-22018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22529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45,101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Orders in 2017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810976" y="1707356"/>
            <a:ext cx="3168967" cy="1728788"/>
          </a:xfrm>
          <a:custGeom>
            <a:avLst/>
            <a:gdLst/>
            <a:ahLst/>
            <a:cxnLst/>
            <a:rect r="r" b="b" t="t" l="l"/>
            <a:pathLst>
              <a:path h="1728788" w="3168967">
                <a:moveTo>
                  <a:pt x="0" y="0"/>
                </a:moveTo>
                <a:lnTo>
                  <a:pt x="3168968" y="0"/>
                </a:lnTo>
                <a:lnTo>
                  <a:pt x="3168968" y="1728788"/>
                </a:lnTo>
                <a:lnTo>
                  <a:pt x="0" y="172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810976" y="1707356"/>
            <a:ext cx="3168967" cy="1728788"/>
            <a:chOff x="0" y="0"/>
            <a:chExt cx="4225290" cy="2305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042" t="0" r="-20042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10976" y="1657350"/>
            <a:ext cx="3168967" cy="1778794"/>
            <a:chOff x="0" y="0"/>
            <a:chExt cx="4225290" cy="23717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25289" cy="2371726"/>
            </a:xfrm>
            <a:custGeom>
              <a:avLst/>
              <a:gdLst/>
              <a:ahLst/>
              <a:cxnLst/>
              <a:rect r="r" b="b" t="t" l="l"/>
              <a:pathLst>
                <a:path h="2371726" w="4225289">
                  <a:moveTo>
                    <a:pt x="0" y="0"/>
                  </a:moveTo>
                  <a:lnTo>
                    <a:pt x="4225289" y="0"/>
                  </a:lnTo>
                  <a:lnTo>
                    <a:pt x="4225289" y="2371726"/>
                  </a:lnTo>
                  <a:lnTo>
                    <a:pt x="0" y="23717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018" t="0" r="-2201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422529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51.5%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Orders with installments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239976" y="1707356"/>
            <a:ext cx="3168968" cy="1728788"/>
          </a:xfrm>
          <a:custGeom>
            <a:avLst/>
            <a:gdLst/>
            <a:ahLst/>
            <a:cxnLst/>
            <a:rect r="r" b="b" t="t" l="l"/>
            <a:pathLst>
              <a:path h="1728788" w="3168968">
                <a:moveTo>
                  <a:pt x="0" y="0"/>
                </a:moveTo>
                <a:lnTo>
                  <a:pt x="3168968" y="0"/>
                </a:lnTo>
                <a:lnTo>
                  <a:pt x="3168968" y="1728788"/>
                </a:lnTo>
                <a:lnTo>
                  <a:pt x="0" y="172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7" t="0" r="-57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239976" y="1707356"/>
            <a:ext cx="3168967" cy="1728788"/>
            <a:chOff x="0" y="0"/>
            <a:chExt cx="4225290" cy="2305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252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042" t="0" r="-20042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239976" y="1657350"/>
            <a:ext cx="3168967" cy="1778794"/>
            <a:chOff x="0" y="0"/>
            <a:chExt cx="4225290" cy="23717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25289" cy="2371726"/>
            </a:xfrm>
            <a:custGeom>
              <a:avLst/>
              <a:gdLst/>
              <a:ahLst/>
              <a:cxnLst/>
              <a:rect r="r" b="b" t="t" l="l"/>
              <a:pathLst>
                <a:path h="2371726" w="4225289">
                  <a:moveTo>
                    <a:pt x="0" y="0"/>
                  </a:moveTo>
                  <a:lnTo>
                    <a:pt x="4225289" y="0"/>
                  </a:lnTo>
                  <a:lnTo>
                    <a:pt x="4225289" y="2371726"/>
                  </a:lnTo>
                  <a:lnTo>
                    <a:pt x="0" y="23717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018" t="0" r="-2201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22529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2.8%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6-month retention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88720" y="4027170"/>
            <a:ext cx="15590520" cy="578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Health &amp; Beauty generated the highest category sales at 1,258,681 in item-price revenue.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São Paulo had the largest customer base with 40,302 unique customers.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January recorded 7,269 orders in 2018; September and October are partial in the source data.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Sales increased from 6,155,807 in 2017 to 7,386,051 in 2018, a 19.99% YoY increase.</a:t>
            </a:r>
          </a:p>
          <a:p>
            <a:pPr algn="l" marL="760095" indent="-253365" lvl="2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price vs purchase count correlation was -0.032, indicating a very weak linear relationship.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33090"/>
            <a:ext cx="7749202" cy="3178837"/>
          </a:xfrm>
          <a:custGeom>
            <a:avLst/>
            <a:gdLst/>
            <a:ahLst/>
            <a:cxnLst/>
            <a:rect r="r" b="b" t="t" l="l"/>
            <a:pathLst>
              <a:path h="3178837" w="7749202">
                <a:moveTo>
                  <a:pt x="0" y="0"/>
                </a:moveTo>
                <a:lnTo>
                  <a:pt x="7749202" y="0"/>
                </a:lnTo>
                <a:lnTo>
                  <a:pt x="7749202" y="3178836"/>
                </a:lnTo>
                <a:lnTo>
                  <a:pt x="0" y="3178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88" t="0" r="-532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685350"/>
            <a:ext cx="3250507" cy="4601650"/>
          </a:xfrm>
          <a:custGeom>
            <a:avLst/>
            <a:gdLst/>
            <a:ahLst/>
            <a:cxnLst/>
            <a:rect r="r" b="b" t="t" l="l"/>
            <a:pathLst>
              <a:path h="4601650" w="3250507">
                <a:moveTo>
                  <a:pt x="0" y="0"/>
                </a:moveTo>
                <a:lnTo>
                  <a:pt x="3250507" y="0"/>
                </a:lnTo>
                <a:lnTo>
                  <a:pt x="3250507" y="4601650"/>
                </a:lnTo>
                <a:lnTo>
                  <a:pt x="0" y="460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25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2440" y="828056"/>
            <a:ext cx="8488795" cy="5132381"/>
          </a:xfrm>
          <a:custGeom>
            <a:avLst/>
            <a:gdLst/>
            <a:ahLst/>
            <a:cxnLst/>
            <a:rect r="r" b="b" t="t" l="l"/>
            <a:pathLst>
              <a:path h="5132381" w="8488795">
                <a:moveTo>
                  <a:pt x="0" y="0"/>
                </a:moveTo>
                <a:lnTo>
                  <a:pt x="8488795" y="0"/>
                </a:lnTo>
                <a:lnTo>
                  <a:pt x="8488795" y="5132381"/>
                </a:lnTo>
                <a:lnTo>
                  <a:pt x="0" y="5132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2440" y="6145387"/>
            <a:ext cx="5494955" cy="3982582"/>
          </a:xfrm>
          <a:custGeom>
            <a:avLst/>
            <a:gdLst/>
            <a:ahLst/>
            <a:cxnLst/>
            <a:rect r="r" b="b" t="t" l="l"/>
            <a:pathLst>
              <a:path h="3982582" w="5494955">
                <a:moveTo>
                  <a:pt x="0" y="0"/>
                </a:moveTo>
                <a:lnTo>
                  <a:pt x="5494955" y="0"/>
                </a:lnTo>
                <a:lnTo>
                  <a:pt x="5494955" y="3982582"/>
                </a:lnTo>
                <a:lnTo>
                  <a:pt x="0" y="3982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21320"/>
            <a:ext cx="16550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1 — Unique Cities Where Customers Are Located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1327" y="838200"/>
            <a:ext cx="32484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68532" y="130845"/>
            <a:ext cx="34592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808" y="2737987"/>
            <a:ext cx="7835798" cy="4811026"/>
            <a:chOff x="0" y="0"/>
            <a:chExt cx="10818573" cy="66423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18560" cy="6642354"/>
            </a:xfrm>
            <a:custGeom>
              <a:avLst/>
              <a:gdLst/>
              <a:ahLst/>
              <a:cxnLst/>
              <a:rect r="r" b="b" t="t" l="l"/>
              <a:pathLst>
                <a:path h="6642354" w="10818560">
                  <a:moveTo>
                    <a:pt x="0" y="0"/>
                  </a:moveTo>
                  <a:lnTo>
                    <a:pt x="10818560" y="0"/>
                  </a:lnTo>
                  <a:lnTo>
                    <a:pt x="10818560" y="6642354"/>
                  </a:lnTo>
                  <a:lnTo>
                    <a:pt x="0" y="6642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71" t="0" r="-247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8907" y="2737987"/>
            <a:ext cx="9506674" cy="3087795"/>
            <a:chOff x="0" y="0"/>
            <a:chExt cx="12675565" cy="41170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75615" cy="4117086"/>
            </a:xfrm>
            <a:custGeom>
              <a:avLst/>
              <a:gdLst/>
              <a:ahLst/>
              <a:cxnLst/>
              <a:rect r="r" b="b" t="t" l="l"/>
              <a:pathLst>
                <a:path h="4117086" w="12675615">
                  <a:moveTo>
                    <a:pt x="0" y="0"/>
                  </a:moveTo>
                  <a:lnTo>
                    <a:pt x="12675615" y="0"/>
                  </a:lnTo>
                  <a:lnTo>
                    <a:pt x="12675615" y="4117086"/>
                  </a:lnTo>
                  <a:lnTo>
                    <a:pt x="0" y="4117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66" t="0" r="-586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6808" y="137220"/>
            <a:ext cx="13930980" cy="56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sz="32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Basic-2 Number of Orders Placed in 2017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808" y="1423078"/>
            <a:ext cx="361559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3660" y="1423078"/>
            <a:ext cx="415412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60381"/>
            <a:ext cx="7467230" cy="4437049"/>
          </a:xfrm>
          <a:custGeom>
            <a:avLst/>
            <a:gdLst/>
            <a:ahLst/>
            <a:cxnLst/>
            <a:rect r="r" b="b" t="t" l="l"/>
            <a:pathLst>
              <a:path h="4437049" w="7467230">
                <a:moveTo>
                  <a:pt x="0" y="0"/>
                </a:moveTo>
                <a:lnTo>
                  <a:pt x="7467230" y="0"/>
                </a:lnTo>
                <a:lnTo>
                  <a:pt x="7467230" y="4437050"/>
                </a:lnTo>
                <a:lnTo>
                  <a:pt x="0" y="4437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410119"/>
            <a:ext cx="6288819" cy="3458850"/>
          </a:xfrm>
          <a:custGeom>
            <a:avLst/>
            <a:gdLst/>
            <a:ahLst/>
            <a:cxnLst/>
            <a:rect r="r" b="b" t="t" l="l"/>
            <a:pathLst>
              <a:path h="3458850" w="6288819">
                <a:moveTo>
                  <a:pt x="0" y="0"/>
                </a:moveTo>
                <a:lnTo>
                  <a:pt x="6288819" y="0"/>
                </a:lnTo>
                <a:lnTo>
                  <a:pt x="6288819" y="3458850"/>
                </a:lnTo>
                <a:lnTo>
                  <a:pt x="0" y="345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9734" y="610904"/>
            <a:ext cx="6236265" cy="6778549"/>
          </a:xfrm>
          <a:custGeom>
            <a:avLst/>
            <a:gdLst/>
            <a:ahLst/>
            <a:cxnLst/>
            <a:rect r="r" b="b" t="t" l="l"/>
            <a:pathLst>
              <a:path h="6778549" w="6236265">
                <a:moveTo>
                  <a:pt x="0" y="0"/>
                </a:moveTo>
                <a:lnTo>
                  <a:pt x="6236265" y="0"/>
                </a:lnTo>
                <a:lnTo>
                  <a:pt x="6236265" y="6778549"/>
                </a:lnTo>
                <a:lnTo>
                  <a:pt x="0" y="6778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9734" y="7548034"/>
            <a:ext cx="6463247" cy="2738966"/>
          </a:xfrm>
          <a:custGeom>
            <a:avLst/>
            <a:gdLst/>
            <a:ahLst/>
            <a:cxnLst/>
            <a:rect r="r" b="b" t="t" l="l"/>
            <a:pathLst>
              <a:path h="2738966" w="6463247">
                <a:moveTo>
                  <a:pt x="0" y="0"/>
                </a:moveTo>
                <a:lnTo>
                  <a:pt x="6463247" y="0"/>
                </a:lnTo>
                <a:lnTo>
                  <a:pt x="6463247" y="2738966"/>
                </a:lnTo>
                <a:lnTo>
                  <a:pt x="0" y="2738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658" t="-3506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06052"/>
            <a:ext cx="8953838" cy="93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b="true" sz="29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3 — Total sales per category</a:t>
            </a:r>
          </a:p>
          <a:p>
            <a:pPr algn="l">
              <a:lnSpc>
                <a:spcPts val="34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33425"/>
            <a:ext cx="326412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52993" y="144179"/>
            <a:ext cx="46445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7352" y="1202878"/>
            <a:ext cx="8018791" cy="8905003"/>
          </a:xfrm>
          <a:custGeom>
            <a:avLst/>
            <a:gdLst/>
            <a:ahLst/>
            <a:cxnLst/>
            <a:rect r="r" b="b" t="t" l="l"/>
            <a:pathLst>
              <a:path h="8905003" w="8018791">
                <a:moveTo>
                  <a:pt x="0" y="0"/>
                </a:moveTo>
                <a:lnTo>
                  <a:pt x="8018790" y="0"/>
                </a:lnTo>
                <a:lnTo>
                  <a:pt x="8018790" y="8905003"/>
                </a:lnTo>
                <a:lnTo>
                  <a:pt x="0" y="890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69530"/>
            <a:ext cx="9144000" cy="3393989"/>
          </a:xfrm>
          <a:custGeom>
            <a:avLst/>
            <a:gdLst/>
            <a:ahLst/>
            <a:cxnLst/>
            <a:rect r="r" b="b" t="t" l="l"/>
            <a:pathLst>
              <a:path h="3393989" w="9144000">
                <a:moveTo>
                  <a:pt x="0" y="0"/>
                </a:moveTo>
                <a:lnTo>
                  <a:pt x="9144000" y="0"/>
                </a:lnTo>
                <a:lnTo>
                  <a:pt x="9144000" y="3393990"/>
                </a:lnTo>
                <a:lnTo>
                  <a:pt x="0" y="3393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327" y="6401670"/>
            <a:ext cx="5304157" cy="1648184"/>
          </a:xfrm>
          <a:custGeom>
            <a:avLst/>
            <a:gdLst/>
            <a:ahLst/>
            <a:cxnLst/>
            <a:rect r="r" b="b" t="t" l="l"/>
            <a:pathLst>
              <a:path h="1648184" w="5304157">
                <a:moveTo>
                  <a:pt x="0" y="0"/>
                </a:moveTo>
                <a:lnTo>
                  <a:pt x="5304157" y="0"/>
                </a:lnTo>
                <a:lnTo>
                  <a:pt x="5304157" y="1648184"/>
                </a:lnTo>
                <a:lnTo>
                  <a:pt x="0" y="16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327" y="142875"/>
            <a:ext cx="1198118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4 — Percentage of orders paid in installments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327" y="1607505"/>
            <a:ext cx="35722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30765" y="238125"/>
            <a:ext cx="39603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01015"/>
            <a:ext cx="8791517" cy="6120093"/>
            <a:chOff x="0" y="0"/>
            <a:chExt cx="12489193" cy="86941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89180" cy="8694230"/>
            </a:xfrm>
            <a:custGeom>
              <a:avLst/>
              <a:gdLst/>
              <a:ahLst/>
              <a:cxnLst/>
              <a:rect r="r" b="b" t="t" l="l"/>
              <a:pathLst>
                <a:path h="8694230" w="12489180">
                  <a:moveTo>
                    <a:pt x="0" y="0"/>
                  </a:moveTo>
                  <a:lnTo>
                    <a:pt x="12489180" y="0"/>
                  </a:lnTo>
                  <a:lnTo>
                    <a:pt x="12489180" y="8694230"/>
                  </a:lnTo>
                  <a:lnTo>
                    <a:pt x="0" y="8694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85" t="0" r="-108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658319" y="1601533"/>
            <a:ext cx="8234247" cy="4475134"/>
          </a:xfrm>
          <a:custGeom>
            <a:avLst/>
            <a:gdLst/>
            <a:ahLst/>
            <a:cxnLst/>
            <a:rect r="r" b="b" t="t" l="l"/>
            <a:pathLst>
              <a:path h="4475134" w="8234247">
                <a:moveTo>
                  <a:pt x="0" y="0"/>
                </a:moveTo>
                <a:lnTo>
                  <a:pt x="8234246" y="0"/>
                </a:lnTo>
                <a:lnTo>
                  <a:pt x="8234246" y="4475134"/>
                </a:lnTo>
                <a:lnTo>
                  <a:pt x="0" y="4475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8319" y="6454237"/>
            <a:ext cx="6072464" cy="2665280"/>
          </a:xfrm>
          <a:custGeom>
            <a:avLst/>
            <a:gdLst/>
            <a:ahLst/>
            <a:cxnLst/>
            <a:rect r="r" b="b" t="t" l="l"/>
            <a:pathLst>
              <a:path h="2665280" w="6072464">
                <a:moveTo>
                  <a:pt x="0" y="0"/>
                </a:moveTo>
                <a:lnTo>
                  <a:pt x="6072464" y="0"/>
                </a:lnTo>
                <a:lnTo>
                  <a:pt x="6072464" y="2665280"/>
                </a:lnTo>
                <a:lnTo>
                  <a:pt x="0" y="2665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08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8575"/>
            <a:ext cx="83426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 5 — Customers from each state</a:t>
            </a:r>
          </a:p>
          <a:p>
            <a:pPr algn="l">
              <a:lnSpc>
                <a:spcPts val="37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6751" y="1471787"/>
            <a:ext cx="372131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25169" y="776288"/>
            <a:ext cx="398551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491" y="1158642"/>
            <a:ext cx="7452800" cy="4416474"/>
          </a:xfrm>
          <a:custGeom>
            <a:avLst/>
            <a:gdLst/>
            <a:ahLst/>
            <a:cxnLst/>
            <a:rect r="r" b="b" t="t" l="l"/>
            <a:pathLst>
              <a:path h="4416474" w="7452800">
                <a:moveTo>
                  <a:pt x="0" y="0"/>
                </a:moveTo>
                <a:lnTo>
                  <a:pt x="7452800" y="0"/>
                </a:lnTo>
                <a:lnTo>
                  <a:pt x="7452800" y="4416474"/>
                </a:lnTo>
                <a:lnTo>
                  <a:pt x="0" y="441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491" y="5851341"/>
            <a:ext cx="5527256" cy="4410823"/>
          </a:xfrm>
          <a:custGeom>
            <a:avLst/>
            <a:gdLst/>
            <a:ahLst/>
            <a:cxnLst/>
            <a:rect r="r" b="b" t="t" l="l"/>
            <a:pathLst>
              <a:path h="4410823" w="5527256">
                <a:moveTo>
                  <a:pt x="0" y="0"/>
                </a:moveTo>
                <a:lnTo>
                  <a:pt x="5527256" y="0"/>
                </a:lnTo>
                <a:lnTo>
                  <a:pt x="5527256" y="4410823"/>
                </a:lnTo>
                <a:lnTo>
                  <a:pt x="0" y="4410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99525" y="542925"/>
            <a:ext cx="5478128" cy="6597315"/>
          </a:xfrm>
          <a:custGeom>
            <a:avLst/>
            <a:gdLst/>
            <a:ahLst/>
            <a:cxnLst/>
            <a:rect r="r" b="b" t="t" l="l"/>
            <a:pathLst>
              <a:path h="6597315" w="5478128">
                <a:moveTo>
                  <a:pt x="0" y="0"/>
                </a:moveTo>
                <a:lnTo>
                  <a:pt x="5478128" y="0"/>
                </a:lnTo>
                <a:lnTo>
                  <a:pt x="5478128" y="6597315"/>
                </a:lnTo>
                <a:lnTo>
                  <a:pt x="0" y="659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99525" y="7323734"/>
            <a:ext cx="4525431" cy="2938430"/>
          </a:xfrm>
          <a:custGeom>
            <a:avLst/>
            <a:gdLst/>
            <a:ahLst/>
            <a:cxnLst/>
            <a:rect r="r" b="b" t="t" l="l"/>
            <a:pathLst>
              <a:path h="2938430" w="4525431">
                <a:moveTo>
                  <a:pt x="0" y="0"/>
                </a:moveTo>
                <a:lnTo>
                  <a:pt x="4525431" y="0"/>
                </a:lnTo>
                <a:lnTo>
                  <a:pt x="4525431" y="2938430"/>
                </a:lnTo>
                <a:lnTo>
                  <a:pt x="0" y="2938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8575"/>
            <a:ext cx="1083318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1 — Orders per month in 2018</a:t>
            </a:r>
          </a:p>
          <a:p>
            <a:pPr algn="l">
              <a:lnSpc>
                <a:spcPts val="34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6751" y="476250"/>
            <a:ext cx="39812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62818" y="95250"/>
            <a:ext cx="552316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19" y="597825"/>
            <a:ext cx="6887767" cy="4545675"/>
          </a:xfrm>
          <a:custGeom>
            <a:avLst/>
            <a:gdLst/>
            <a:ahLst/>
            <a:cxnLst/>
            <a:rect r="r" b="b" t="t" l="l"/>
            <a:pathLst>
              <a:path h="4545675" w="6887767">
                <a:moveTo>
                  <a:pt x="0" y="0"/>
                </a:moveTo>
                <a:lnTo>
                  <a:pt x="6887768" y="0"/>
                </a:lnTo>
                <a:lnTo>
                  <a:pt x="6887768" y="4545675"/>
                </a:lnTo>
                <a:lnTo>
                  <a:pt x="0" y="4545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719" y="5143500"/>
            <a:ext cx="6887767" cy="1976928"/>
          </a:xfrm>
          <a:custGeom>
            <a:avLst/>
            <a:gdLst/>
            <a:ahLst/>
            <a:cxnLst/>
            <a:rect r="r" b="b" t="t" l="l"/>
            <a:pathLst>
              <a:path h="1976928" w="6887767">
                <a:moveTo>
                  <a:pt x="0" y="0"/>
                </a:moveTo>
                <a:lnTo>
                  <a:pt x="6887768" y="0"/>
                </a:lnTo>
                <a:lnTo>
                  <a:pt x="6887768" y="1976928"/>
                </a:lnTo>
                <a:lnTo>
                  <a:pt x="0" y="1976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719" y="7233606"/>
            <a:ext cx="3804101" cy="3085113"/>
          </a:xfrm>
          <a:custGeom>
            <a:avLst/>
            <a:gdLst/>
            <a:ahLst/>
            <a:cxnLst/>
            <a:rect r="r" b="b" t="t" l="l"/>
            <a:pathLst>
              <a:path h="3085113" w="3804101">
                <a:moveTo>
                  <a:pt x="0" y="0"/>
                </a:moveTo>
                <a:lnTo>
                  <a:pt x="3804101" y="0"/>
                </a:lnTo>
                <a:lnTo>
                  <a:pt x="3804101" y="3085112"/>
                </a:lnTo>
                <a:lnTo>
                  <a:pt x="0" y="3085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56844" y="361950"/>
            <a:ext cx="5387258" cy="6871656"/>
          </a:xfrm>
          <a:custGeom>
            <a:avLst/>
            <a:gdLst/>
            <a:ahLst/>
            <a:cxnLst/>
            <a:rect r="r" b="b" t="t" l="l"/>
            <a:pathLst>
              <a:path h="6871656" w="5387258">
                <a:moveTo>
                  <a:pt x="0" y="0"/>
                </a:moveTo>
                <a:lnTo>
                  <a:pt x="5387259" y="0"/>
                </a:lnTo>
                <a:lnTo>
                  <a:pt x="5387259" y="6871656"/>
                </a:lnTo>
                <a:lnTo>
                  <a:pt x="0" y="6871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8" t="-961" r="-34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56844" y="7423684"/>
            <a:ext cx="4582993" cy="2704956"/>
          </a:xfrm>
          <a:custGeom>
            <a:avLst/>
            <a:gdLst/>
            <a:ahLst/>
            <a:cxnLst/>
            <a:rect r="r" b="b" t="t" l="l"/>
            <a:pathLst>
              <a:path h="2704956" w="4582993">
                <a:moveTo>
                  <a:pt x="0" y="0"/>
                </a:moveTo>
                <a:lnTo>
                  <a:pt x="4582993" y="0"/>
                </a:lnTo>
                <a:lnTo>
                  <a:pt x="4582993" y="2704956"/>
                </a:lnTo>
                <a:lnTo>
                  <a:pt x="0" y="2704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02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65988" y="35850"/>
            <a:ext cx="978899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2 — Average products per order by customer city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717" y="138112"/>
            <a:ext cx="237321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18116" y="-19050"/>
            <a:ext cx="306063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750118"/>
            <a:ext cx="5774283" cy="3269171"/>
          </a:xfrm>
          <a:custGeom>
            <a:avLst/>
            <a:gdLst/>
            <a:ahLst/>
            <a:cxnLst/>
            <a:rect r="r" b="b" t="t" l="l"/>
            <a:pathLst>
              <a:path h="3269171" w="5774283">
                <a:moveTo>
                  <a:pt x="0" y="0"/>
                </a:moveTo>
                <a:lnTo>
                  <a:pt x="5774283" y="0"/>
                </a:lnTo>
                <a:lnTo>
                  <a:pt x="5774283" y="3269171"/>
                </a:lnTo>
                <a:lnTo>
                  <a:pt x="0" y="3269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90739"/>
            <a:ext cx="6908633" cy="2067667"/>
          </a:xfrm>
          <a:custGeom>
            <a:avLst/>
            <a:gdLst/>
            <a:ahLst/>
            <a:cxnLst/>
            <a:rect r="r" b="b" t="t" l="l"/>
            <a:pathLst>
              <a:path h="2067667" w="6908633">
                <a:moveTo>
                  <a:pt x="0" y="0"/>
                </a:moveTo>
                <a:lnTo>
                  <a:pt x="6908633" y="0"/>
                </a:lnTo>
                <a:lnTo>
                  <a:pt x="6908633" y="2067667"/>
                </a:lnTo>
                <a:lnTo>
                  <a:pt x="0" y="206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28150" y="352425"/>
            <a:ext cx="6231080" cy="8120353"/>
          </a:xfrm>
          <a:custGeom>
            <a:avLst/>
            <a:gdLst/>
            <a:ahLst/>
            <a:cxnLst/>
            <a:rect r="r" b="b" t="t" l="l"/>
            <a:pathLst>
              <a:path h="8120353" w="6231080">
                <a:moveTo>
                  <a:pt x="0" y="0"/>
                </a:moveTo>
                <a:lnTo>
                  <a:pt x="6231080" y="0"/>
                </a:lnTo>
                <a:lnTo>
                  <a:pt x="6231080" y="8120353"/>
                </a:lnTo>
                <a:lnTo>
                  <a:pt x="0" y="81203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28150" y="8676265"/>
            <a:ext cx="6654299" cy="1582141"/>
          </a:xfrm>
          <a:custGeom>
            <a:avLst/>
            <a:gdLst/>
            <a:ahLst/>
            <a:cxnLst/>
            <a:rect r="r" b="b" t="t" l="l"/>
            <a:pathLst>
              <a:path h="1582141" w="6654299">
                <a:moveTo>
                  <a:pt x="0" y="0"/>
                </a:moveTo>
                <a:lnTo>
                  <a:pt x="6654299" y="0"/>
                </a:lnTo>
                <a:lnTo>
                  <a:pt x="6654299" y="1582141"/>
                </a:lnTo>
                <a:lnTo>
                  <a:pt x="0" y="15821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886676"/>
            <a:ext cx="7080720" cy="3691142"/>
          </a:xfrm>
          <a:custGeom>
            <a:avLst/>
            <a:gdLst/>
            <a:ahLst/>
            <a:cxnLst/>
            <a:rect r="r" b="b" t="t" l="l"/>
            <a:pathLst>
              <a:path h="3691142" w="7080720">
                <a:moveTo>
                  <a:pt x="0" y="0"/>
                </a:moveTo>
                <a:lnTo>
                  <a:pt x="7080720" y="0"/>
                </a:lnTo>
                <a:lnTo>
                  <a:pt x="7080720" y="3691141"/>
                </a:lnTo>
                <a:lnTo>
                  <a:pt x="0" y="3691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8111" y="-85725"/>
            <a:ext cx="99705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3 — Revenue percentage by category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662" y="314325"/>
            <a:ext cx="312865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72542" y="-38100"/>
            <a:ext cx="433539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886730"/>
            <a:ext cx="9187314" cy="6966205"/>
          </a:xfrm>
          <a:custGeom>
            <a:avLst/>
            <a:gdLst/>
            <a:ahLst/>
            <a:cxnLst/>
            <a:rect r="r" b="b" t="t" l="l"/>
            <a:pathLst>
              <a:path h="6966205" w="9187314">
                <a:moveTo>
                  <a:pt x="0" y="0"/>
                </a:moveTo>
                <a:lnTo>
                  <a:pt x="9187314" y="0"/>
                </a:lnTo>
                <a:lnTo>
                  <a:pt x="9187314" y="6966205"/>
                </a:lnTo>
                <a:lnTo>
                  <a:pt x="0" y="6966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49128"/>
            <a:ext cx="7796644" cy="5828920"/>
          </a:xfrm>
          <a:custGeom>
            <a:avLst/>
            <a:gdLst/>
            <a:ahLst/>
            <a:cxnLst/>
            <a:rect r="r" b="b" t="t" l="l"/>
            <a:pathLst>
              <a:path h="5828920" w="7796644">
                <a:moveTo>
                  <a:pt x="0" y="0"/>
                </a:moveTo>
                <a:lnTo>
                  <a:pt x="7796644" y="0"/>
                </a:lnTo>
                <a:lnTo>
                  <a:pt x="7796644" y="5828919"/>
                </a:lnTo>
                <a:lnTo>
                  <a:pt x="0" y="5828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536891"/>
            <a:ext cx="7796644" cy="1979064"/>
          </a:xfrm>
          <a:custGeom>
            <a:avLst/>
            <a:gdLst/>
            <a:ahLst/>
            <a:cxnLst/>
            <a:rect r="r" b="b" t="t" l="l"/>
            <a:pathLst>
              <a:path h="1979064" w="7796644">
                <a:moveTo>
                  <a:pt x="0" y="0"/>
                </a:moveTo>
                <a:lnTo>
                  <a:pt x="7796644" y="0"/>
                </a:lnTo>
                <a:lnTo>
                  <a:pt x="7796644" y="1979064"/>
                </a:lnTo>
                <a:lnTo>
                  <a:pt x="0" y="1979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002385"/>
            <a:ext cx="4817307" cy="1284615"/>
          </a:xfrm>
          <a:custGeom>
            <a:avLst/>
            <a:gdLst/>
            <a:ahLst/>
            <a:cxnLst/>
            <a:rect r="r" b="b" t="t" l="l"/>
            <a:pathLst>
              <a:path h="1284615" w="4817307">
                <a:moveTo>
                  <a:pt x="0" y="0"/>
                </a:moveTo>
                <a:lnTo>
                  <a:pt x="4817307" y="0"/>
                </a:lnTo>
                <a:lnTo>
                  <a:pt x="4817307" y="1284615"/>
                </a:lnTo>
                <a:lnTo>
                  <a:pt x="0" y="1284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9074" y="-57150"/>
            <a:ext cx="1365341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4 — Correlation between product price and purchase count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42610"/>
            <a:ext cx="303342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32375" y="1711808"/>
            <a:ext cx="473418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83115"/>
            <a:ext cx="5375925" cy="5056807"/>
          </a:xfrm>
          <a:custGeom>
            <a:avLst/>
            <a:gdLst/>
            <a:ahLst/>
            <a:cxnLst/>
            <a:rect r="r" b="b" t="t" l="l"/>
            <a:pathLst>
              <a:path h="5056807" w="5375925">
                <a:moveTo>
                  <a:pt x="0" y="0"/>
                </a:moveTo>
                <a:lnTo>
                  <a:pt x="5375925" y="0"/>
                </a:lnTo>
                <a:lnTo>
                  <a:pt x="5375925" y="5056807"/>
                </a:lnTo>
                <a:lnTo>
                  <a:pt x="0" y="5056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053272"/>
            <a:ext cx="4191832" cy="2109796"/>
          </a:xfrm>
          <a:custGeom>
            <a:avLst/>
            <a:gdLst/>
            <a:ahLst/>
            <a:cxnLst/>
            <a:rect r="r" b="b" t="t" l="l"/>
            <a:pathLst>
              <a:path h="2109796" w="4191832">
                <a:moveTo>
                  <a:pt x="0" y="0"/>
                </a:moveTo>
                <a:lnTo>
                  <a:pt x="4191832" y="0"/>
                </a:lnTo>
                <a:lnTo>
                  <a:pt x="4191832" y="2109796"/>
                </a:lnTo>
                <a:lnTo>
                  <a:pt x="0" y="2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331694"/>
            <a:ext cx="6962074" cy="1955306"/>
          </a:xfrm>
          <a:custGeom>
            <a:avLst/>
            <a:gdLst/>
            <a:ahLst/>
            <a:cxnLst/>
            <a:rect r="r" b="b" t="t" l="l"/>
            <a:pathLst>
              <a:path h="1955306" w="6962074">
                <a:moveTo>
                  <a:pt x="0" y="0"/>
                </a:moveTo>
                <a:lnTo>
                  <a:pt x="6962074" y="0"/>
                </a:lnTo>
                <a:lnTo>
                  <a:pt x="6962074" y="1955306"/>
                </a:lnTo>
                <a:lnTo>
                  <a:pt x="0" y="195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96941" y="502115"/>
            <a:ext cx="5642447" cy="7936125"/>
          </a:xfrm>
          <a:custGeom>
            <a:avLst/>
            <a:gdLst/>
            <a:ahLst/>
            <a:cxnLst/>
            <a:rect r="r" b="b" t="t" l="l"/>
            <a:pathLst>
              <a:path h="7936125" w="5642447">
                <a:moveTo>
                  <a:pt x="0" y="0"/>
                </a:moveTo>
                <a:lnTo>
                  <a:pt x="5642447" y="0"/>
                </a:lnTo>
                <a:lnTo>
                  <a:pt x="5642447" y="7936125"/>
                </a:lnTo>
                <a:lnTo>
                  <a:pt x="0" y="7936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96941" y="8704031"/>
            <a:ext cx="7491059" cy="1582969"/>
          </a:xfrm>
          <a:custGeom>
            <a:avLst/>
            <a:gdLst/>
            <a:ahLst/>
            <a:cxnLst/>
            <a:rect r="r" b="b" t="t" l="l"/>
            <a:pathLst>
              <a:path h="1582969" w="7491059">
                <a:moveTo>
                  <a:pt x="0" y="0"/>
                </a:moveTo>
                <a:lnTo>
                  <a:pt x="7491059" y="0"/>
                </a:lnTo>
                <a:lnTo>
                  <a:pt x="7491059" y="1582969"/>
                </a:lnTo>
                <a:lnTo>
                  <a:pt x="0" y="1582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6340"/>
            <a:ext cx="1106914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5 — Seller Revenue &amp; Ranking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668" y="444965"/>
            <a:ext cx="31189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47056" y="63965"/>
            <a:ext cx="419276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29816"/>
            <a:ext cx="4161437" cy="4744578"/>
          </a:xfrm>
          <a:custGeom>
            <a:avLst/>
            <a:gdLst/>
            <a:ahLst/>
            <a:cxnLst/>
            <a:rect r="r" b="b" t="t" l="l"/>
            <a:pathLst>
              <a:path h="4744578" w="4161437">
                <a:moveTo>
                  <a:pt x="0" y="0"/>
                </a:moveTo>
                <a:lnTo>
                  <a:pt x="4161437" y="0"/>
                </a:lnTo>
                <a:lnTo>
                  <a:pt x="4161437" y="4744578"/>
                </a:lnTo>
                <a:lnTo>
                  <a:pt x="0" y="4744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2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374394"/>
            <a:ext cx="3809187" cy="3377805"/>
          </a:xfrm>
          <a:custGeom>
            <a:avLst/>
            <a:gdLst/>
            <a:ahLst/>
            <a:cxnLst/>
            <a:rect r="r" b="b" t="t" l="l"/>
            <a:pathLst>
              <a:path h="3377805" w="3809187">
                <a:moveTo>
                  <a:pt x="0" y="0"/>
                </a:moveTo>
                <a:lnTo>
                  <a:pt x="3809187" y="0"/>
                </a:lnTo>
                <a:lnTo>
                  <a:pt x="3809187" y="3377805"/>
                </a:lnTo>
                <a:lnTo>
                  <a:pt x="0" y="3377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963874"/>
            <a:ext cx="8693426" cy="1323126"/>
          </a:xfrm>
          <a:custGeom>
            <a:avLst/>
            <a:gdLst/>
            <a:ahLst/>
            <a:cxnLst/>
            <a:rect r="r" b="b" t="t" l="l"/>
            <a:pathLst>
              <a:path h="1323126" w="8693426">
                <a:moveTo>
                  <a:pt x="0" y="0"/>
                </a:moveTo>
                <a:lnTo>
                  <a:pt x="8693426" y="0"/>
                </a:lnTo>
                <a:lnTo>
                  <a:pt x="8693426" y="1323126"/>
                </a:lnTo>
                <a:lnTo>
                  <a:pt x="0" y="1323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581025"/>
            <a:ext cx="7556536" cy="6172200"/>
          </a:xfrm>
          <a:custGeom>
            <a:avLst/>
            <a:gdLst/>
            <a:ahLst/>
            <a:cxnLst/>
            <a:rect r="r" b="b" t="t" l="l"/>
            <a:pathLst>
              <a:path h="6172200" w="7556536">
                <a:moveTo>
                  <a:pt x="0" y="0"/>
                </a:moveTo>
                <a:lnTo>
                  <a:pt x="7556536" y="0"/>
                </a:lnTo>
                <a:lnTo>
                  <a:pt x="755653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6922851"/>
            <a:ext cx="9144000" cy="3364149"/>
          </a:xfrm>
          <a:custGeom>
            <a:avLst/>
            <a:gdLst/>
            <a:ahLst/>
            <a:cxnLst/>
            <a:rect r="r" b="b" t="t" l="l"/>
            <a:pathLst>
              <a:path h="3364149" w="9144000">
                <a:moveTo>
                  <a:pt x="0" y="0"/>
                </a:moveTo>
                <a:lnTo>
                  <a:pt x="9144000" y="0"/>
                </a:lnTo>
                <a:lnTo>
                  <a:pt x="9144000" y="3364149"/>
                </a:lnTo>
                <a:lnTo>
                  <a:pt x="0" y="33641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9200" y="9525"/>
            <a:ext cx="1158298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1 — Moving Average of Order Values for Each Customer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80975"/>
            <a:ext cx="232734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87902" y="133350"/>
            <a:ext cx="39205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6423206" cy="3841204"/>
          </a:xfrm>
          <a:custGeom>
            <a:avLst/>
            <a:gdLst/>
            <a:ahLst/>
            <a:cxnLst/>
            <a:rect r="r" b="b" t="t" l="l"/>
            <a:pathLst>
              <a:path h="3841204" w="6423206">
                <a:moveTo>
                  <a:pt x="0" y="0"/>
                </a:moveTo>
                <a:lnTo>
                  <a:pt x="6423206" y="0"/>
                </a:lnTo>
                <a:lnTo>
                  <a:pt x="6423206" y="3841204"/>
                </a:lnTo>
                <a:lnTo>
                  <a:pt x="0" y="384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869904"/>
            <a:ext cx="5553306" cy="5297207"/>
          </a:xfrm>
          <a:custGeom>
            <a:avLst/>
            <a:gdLst/>
            <a:ahLst/>
            <a:cxnLst/>
            <a:rect r="r" b="b" t="t" l="l"/>
            <a:pathLst>
              <a:path h="5297207" w="5553306">
                <a:moveTo>
                  <a:pt x="0" y="0"/>
                </a:moveTo>
                <a:lnTo>
                  <a:pt x="5553306" y="0"/>
                </a:lnTo>
                <a:lnTo>
                  <a:pt x="5553306" y="5297207"/>
                </a:lnTo>
                <a:lnTo>
                  <a:pt x="0" y="5297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79556" y="1028700"/>
            <a:ext cx="7292811" cy="9138411"/>
          </a:xfrm>
          <a:custGeom>
            <a:avLst/>
            <a:gdLst/>
            <a:ahLst/>
            <a:cxnLst/>
            <a:rect r="r" b="b" t="t" l="l"/>
            <a:pathLst>
              <a:path h="9138411" w="7292811">
                <a:moveTo>
                  <a:pt x="0" y="0"/>
                </a:moveTo>
                <a:lnTo>
                  <a:pt x="7292811" y="0"/>
                </a:lnTo>
                <a:lnTo>
                  <a:pt x="7292811" y="9138411"/>
                </a:lnTo>
                <a:lnTo>
                  <a:pt x="0" y="913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9525"/>
            <a:ext cx="1342158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2 — Cumulative Sales per Month for Each Year- SQL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1699" y="438150"/>
            <a:ext cx="350186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SQL-Output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717" y="581025"/>
            <a:ext cx="290388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1020" y="489192"/>
            <a:ext cx="5520653" cy="6146983"/>
          </a:xfrm>
          <a:custGeom>
            <a:avLst/>
            <a:gdLst/>
            <a:ahLst/>
            <a:cxnLst/>
            <a:rect r="r" b="b" t="t" l="l"/>
            <a:pathLst>
              <a:path h="6146983" w="5520653">
                <a:moveTo>
                  <a:pt x="0" y="0"/>
                </a:moveTo>
                <a:lnTo>
                  <a:pt x="5520654" y="0"/>
                </a:lnTo>
                <a:lnTo>
                  <a:pt x="5520654" y="6146983"/>
                </a:lnTo>
                <a:lnTo>
                  <a:pt x="0" y="614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020" y="6721900"/>
            <a:ext cx="4873761" cy="3650825"/>
          </a:xfrm>
          <a:custGeom>
            <a:avLst/>
            <a:gdLst/>
            <a:ahLst/>
            <a:cxnLst/>
            <a:rect r="r" b="b" t="t" l="l"/>
            <a:pathLst>
              <a:path h="3650825" w="4873761">
                <a:moveTo>
                  <a:pt x="0" y="0"/>
                </a:moveTo>
                <a:lnTo>
                  <a:pt x="4873762" y="0"/>
                </a:lnTo>
                <a:lnTo>
                  <a:pt x="4873762" y="3650825"/>
                </a:lnTo>
                <a:lnTo>
                  <a:pt x="0" y="365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03988" y="1483497"/>
            <a:ext cx="9151538" cy="8558992"/>
          </a:xfrm>
          <a:custGeom>
            <a:avLst/>
            <a:gdLst/>
            <a:ahLst/>
            <a:cxnLst/>
            <a:rect r="r" b="b" t="t" l="l"/>
            <a:pathLst>
              <a:path h="8558992" w="9151538">
                <a:moveTo>
                  <a:pt x="0" y="0"/>
                </a:moveTo>
                <a:lnTo>
                  <a:pt x="9151538" y="0"/>
                </a:lnTo>
                <a:lnTo>
                  <a:pt x="9151538" y="8558993"/>
                </a:lnTo>
                <a:lnTo>
                  <a:pt x="0" y="8558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50442" y="-44208"/>
            <a:ext cx="1173233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2 — Cumulative Sales per Month for Each Year-PYTHON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19150" y="728662"/>
            <a:ext cx="366970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PYTHON-Output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767" y="89142"/>
            <a:ext cx="329585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1476"/>
            <a:ext cx="5991790" cy="3886264"/>
          </a:xfrm>
          <a:custGeom>
            <a:avLst/>
            <a:gdLst/>
            <a:ahLst/>
            <a:cxnLst/>
            <a:rect r="r" b="b" t="t" l="l"/>
            <a:pathLst>
              <a:path h="3886264" w="5991790">
                <a:moveTo>
                  <a:pt x="0" y="0"/>
                </a:moveTo>
                <a:lnTo>
                  <a:pt x="5991790" y="0"/>
                </a:lnTo>
                <a:lnTo>
                  <a:pt x="5991790" y="3886263"/>
                </a:lnTo>
                <a:lnTo>
                  <a:pt x="0" y="3886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827739"/>
            <a:ext cx="8228153" cy="3651116"/>
          </a:xfrm>
          <a:custGeom>
            <a:avLst/>
            <a:gdLst/>
            <a:ahLst/>
            <a:cxnLst/>
            <a:rect r="r" b="b" t="t" l="l"/>
            <a:pathLst>
              <a:path h="3651116" w="8228153">
                <a:moveTo>
                  <a:pt x="0" y="0"/>
                </a:moveTo>
                <a:lnTo>
                  <a:pt x="8228153" y="0"/>
                </a:lnTo>
                <a:lnTo>
                  <a:pt x="8228153" y="3651116"/>
                </a:lnTo>
                <a:lnTo>
                  <a:pt x="0" y="3651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7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17082"/>
            <a:ext cx="7612652" cy="1392558"/>
          </a:xfrm>
          <a:custGeom>
            <a:avLst/>
            <a:gdLst/>
            <a:ahLst/>
            <a:cxnLst/>
            <a:rect r="r" b="b" t="t" l="l"/>
            <a:pathLst>
              <a:path h="1392558" w="7612652">
                <a:moveTo>
                  <a:pt x="0" y="0"/>
                </a:moveTo>
                <a:lnTo>
                  <a:pt x="7612652" y="0"/>
                </a:lnTo>
                <a:lnTo>
                  <a:pt x="7612652" y="1392559"/>
                </a:lnTo>
                <a:lnTo>
                  <a:pt x="0" y="1392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5017" y="1700068"/>
            <a:ext cx="7942983" cy="7942983"/>
          </a:xfrm>
          <a:custGeom>
            <a:avLst/>
            <a:gdLst/>
            <a:ahLst/>
            <a:cxnLst/>
            <a:rect r="r" b="b" t="t" l="l"/>
            <a:pathLst>
              <a:path h="7942983" w="7942983">
                <a:moveTo>
                  <a:pt x="0" y="0"/>
                </a:moveTo>
                <a:lnTo>
                  <a:pt x="7942983" y="0"/>
                </a:lnTo>
                <a:lnTo>
                  <a:pt x="7942983" y="7942983"/>
                </a:lnTo>
                <a:lnTo>
                  <a:pt x="0" y="7942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49182" y="-5512"/>
            <a:ext cx="1178963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3 — Year-over-Year Growth Rate of Total Sales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404063"/>
            <a:ext cx="35643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9214" y="971550"/>
            <a:ext cx="33791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48533"/>
            <a:ext cx="8173355" cy="7809767"/>
            <a:chOff x="0" y="0"/>
            <a:chExt cx="10897806" cy="10413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97743" cy="10412984"/>
            </a:xfrm>
            <a:custGeom>
              <a:avLst/>
              <a:gdLst/>
              <a:ahLst/>
              <a:cxnLst/>
              <a:rect r="r" b="b" t="t" l="l"/>
              <a:pathLst>
                <a:path h="10412984" w="10897743">
                  <a:moveTo>
                    <a:pt x="0" y="0"/>
                  </a:moveTo>
                  <a:lnTo>
                    <a:pt x="10897743" y="0"/>
                  </a:lnTo>
                  <a:lnTo>
                    <a:pt x="10897743" y="10412984"/>
                  </a:lnTo>
                  <a:lnTo>
                    <a:pt x="0" y="10412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29206" y="400050"/>
            <a:ext cx="8082067" cy="7219140"/>
            <a:chOff x="0" y="0"/>
            <a:chExt cx="10776090" cy="962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76077" cy="9625457"/>
            </a:xfrm>
            <a:custGeom>
              <a:avLst/>
              <a:gdLst/>
              <a:ahLst/>
              <a:cxnLst/>
              <a:rect r="r" b="b" t="t" l="l"/>
              <a:pathLst>
                <a:path h="9625457" w="10776077">
                  <a:moveTo>
                    <a:pt x="0" y="0"/>
                  </a:moveTo>
                  <a:lnTo>
                    <a:pt x="10776077" y="0"/>
                  </a:lnTo>
                  <a:lnTo>
                    <a:pt x="10776077" y="9625457"/>
                  </a:lnTo>
                  <a:lnTo>
                    <a:pt x="0" y="9625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29206" y="7688661"/>
            <a:ext cx="7607351" cy="2598339"/>
            <a:chOff x="0" y="0"/>
            <a:chExt cx="10982109" cy="37510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2071" cy="3750945"/>
            </a:xfrm>
            <a:custGeom>
              <a:avLst/>
              <a:gdLst/>
              <a:ahLst/>
              <a:cxnLst/>
              <a:rect r="r" b="b" t="t" l="l"/>
              <a:pathLst>
                <a:path h="3750945" w="10982071">
                  <a:moveTo>
                    <a:pt x="0" y="0"/>
                  </a:moveTo>
                  <a:lnTo>
                    <a:pt x="10982071" y="0"/>
                  </a:lnTo>
                  <a:lnTo>
                    <a:pt x="10982071" y="3750945"/>
                  </a:lnTo>
                  <a:lnTo>
                    <a:pt x="0" y="3750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-57150"/>
            <a:ext cx="1162914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4 — Customer Retention Rate Within 6 Months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971550"/>
            <a:ext cx="32084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32882" y="-47625"/>
            <a:ext cx="303260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Code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23017"/>
            <a:ext cx="6734236" cy="3641389"/>
          </a:xfrm>
          <a:custGeom>
            <a:avLst/>
            <a:gdLst/>
            <a:ahLst/>
            <a:cxnLst/>
            <a:rect r="r" b="b" t="t" l="l"/>
            <a:pathLst>
              <a:path h="3641389" w="6734236">
                <a:moveTo>
                  <a:pt x="0" y="0"/>
                </a:moveTo>
                <a:lnTo>
                  <a:pt x="6734236" y="0"/>
                </a:lnTo>
                <a:lnTo>
                  <a:pt x="6734236" y="3641389"/>
                </a:lnTo>
                <a:lnTo>
                  <a:pt x="0" y="3641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864406"/>
            <a:ext cx="8779568" cy="4739819"/>
          </a:xfrm>
          <a:custGeom>
            <a:avLst/>
            <a:gdLst/>
            <a:ahLst/>
            <a:cxnLst/>
            <a:rect r="r" b="b" t="t" l="l"/>
            <a:pathLst>
              <a:path h="4739819" w="8779568">
                <a:moveTo>
                  <a:pt x="0" y="0"/>
                </a:moveTo>
                <a:lnTo>
                  <a:pt x="8779568" y="0"/>
                </a:lnTo>
                <a:lnTo>
                  <a:pt x="8779568" y="4739819"/>
                </a:lnTo>
                <a:lnTo>
                  <a:pt x="0" y="4739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613354"/>
            <a:ext cx="9117692" cy="3583736"/>
          </a:xfrm>
          <a:custGeom>
            <a:avLst/>
            <a:gdLst/>
            <a:ahLst/>
            <a:cxnLst/>
            <a:rect r="r" b="b" t="t" l="l"/>
            <a:pathLst>
              <a:path h="3583736" w="9117692">
                <a:moveTo>
                  <a:pt x="0" y="0"/>
                </a:moveTo>
                <a:lnTo>
                  <a:pt x="9117692" y="0"/>
                </a:lnTo>
                <a:lnTo>
                  <a:pt x="9117692" y="3583736"/>
                </a:lnTo>
                <a:lnTo>
                  <a:pt x="0" y="3583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57150"/>
            <a:ext cx="1511525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5 — Top 3 Customers Who Spent the Most Money in Each Year-SQL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44780" y="3786963"/>
            <a:ext cx="351563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SQL-Output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327" y="476250"/>
            <a:ext cx="433027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Query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38339" y="3427835"/>
            <a:ext cx="9449661" cy="5030480"/>
          </a:xfrm>
          <a:custGeom>
            <a:avLst/>
            <a:gdLst/>
            <a:ahLst/>
            <a:cxnLst/>
            <a:rect r="r" b="b" t="t" l="l"/>
            <a:pathLst>
              <a:path h="5030480" w="9449661">
                <a:moveTo>
                  <a:pt x="0" y="0"/>
                </a:moveTo>
                <a:lnTo>
                  <a:pt x="9449661" y="0"/>
                </a:lnTo>
                <a:lnTo>
                  <a:pt x="9449661" y="5030480"/>
                </a:lnTo>
                <a:lnTo>
                  <a:pt x="0" y="503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00050"/>
            <a:ext cx="6892259" cy="6600366"/>
          </a:xfrm>
          <a:custGeom>
            <a:avLst/>
            <a:gdLst/>
            <a:ahLst/>
            <a:cxnLst/>
            <a:rect r="r" b="b" t="t" l="l"/>
            <a:pathLst>
              <a:path h="6600366" w="6892259">
                <a:moveTo>
                  <a:pt x="0" y="0"/>
                </a:moveTo>
                <a:lnTo>
                  <a:pt x="6892259" y="0"/>
                </a:lnTo>
                <a:lnTo>
                  <a:pt x="6892259" y="6600366"/>
                </a:lnTo>
                <a:lnTo>
                  <a:pt x="0" y="6600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744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63930"/>
            <a:ext cx="6416100" cy="3123916"/>
          </a:xfrm>
          <a:custGeom>
            <a:avLst/>
            <a:gdLst/>
            <a:ahLst/>
            <a:cxnLst/>
            <a:rect r="r" b="b" t="t" l="l"/>
            <a:pathLst>
              <a:path h="3123916" w="6416100">
                <a:moveTo>
                  <a:pt x="0" y="0"/>
                </a:moveTo>
                <a:lnTo>
                  <a:pt x="6416100" y="0"/>
                </a:lnTo>
                <a:lnTo>
                  <a:pt x="6416100" y="3123915"/>
                </a:lnTo>
                <a:lnTo>
                  <a:pt x="0" y="3123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553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57150"/>
            <a:ext cx="1657710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5 — Top 3 Customers Who Spent the Most Money in Each Year-PYTHON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23908" y="2552512"/>
            <a:ext cx="445817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PYTHON-Output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560" y="228600"/>
            <a:ext cx="15534662" cy="94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4062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 &amp; Assumptions</a:t>
            </a:r>
          </a:p>
          <a:p>
            <a:pPr algn="l" marL="691220" indent="-230407" lvl="2">
              <a:lnSpc>
                <a:spcPts val="3628"/>
              </a:lnSpc>
              <a:buAutoNum type="arabicPeriod" startAt="1"/>
            </a:pPr>
            <a:r>
              <a:rPr lang="en-US" b="true" sz="3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b="true" sz="3023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joins to combine related datasets.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filtering, grouping and aggregation.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window functions for advanced analysis.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ranking and time-based calculations where required.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b="true" sz="3023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Pandas for data preparation and analysis.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Performed equivalent filtering, grouping and aggregation.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rolling calculations for moving averages.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percentage-change calculations for YoY analysis.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Compared Python results with corresponding SQL outputs.</a:t>
            </a:r>
          </a:p>
          <a:p>
            <a:pPr algn="l" marL="691220" indent="-230407" lvl="2">
              <a:lnSpc>
                <a:spcPts val="3628"/>
              </a:lnSpc>
            </a:pPr>
          </a:p>
          <a:p>
            <a:pPr algn="l" marL="691220" indent="-230407" lvl="2">
              <a:lnSpc>
                <a:spcPts val="3628"/>
              </a:lnSpc>
              <a:buAutoNum type="arabicPeriod" startAt="1"/>
            </a:pPr>
            <a:r>
              <a:rPr lang="en-US" b="true" sz="3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</a:t>
            </a:r>
            <a:r>
              <a:rPr lang="en-US" b="true" sz="3023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ey Assumptions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Order-level spending is calculated using the relevant order-item price values.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Customer-level analysis uses customer_unique_id where unique customer identification is required.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Time-based analysis uses the order purchase timestamp.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Retention is evaluated using the defined six-month period.</a:t>
            </a:r>
          </a:p>
          <a:p>
            <a:pPr algn="l" marL="691220" indent="-230407" lvl="2">
              <a:lnSpc>
                <a:spcPts val="3628"/>
              </a:lnSpc>
            </a:pPr>
            <a:r>
              <a:rPr lang="en-US" sz="30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SQL and Python calculations follow equivalent business logic for validation.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28613"/>
            <a:ext cx="17707808" cy="98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1"/>
              </a:lnSpc>
            </a:pPr>
            <a:r>
              <a:rPr lang="en-US" b="true" sz="50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  <a:p>
            <a:pPr algn="l">
              <a:lnSpc>
                <a:spcPts val="5576"/>
              </a:lnSpc>
            </a:pPr>
          </a:p>
          <a:p>
            <a:pPr algn="l">
              <a:lnSpc>
                <a:spcPts val="4298"/>
              </a:lnSpc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demonstrates how SQL and Python can be used together for comprehensive e-commerce data analysis.</a:t>
            </a:r>
          </a:p>
          <a:p>
            <a:pPr algn="l">
              <a:lnSpc>
                <a:spcPts val="4298"/>
              </a:lnSpc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covered basic, intermediate, and advanced analytical questions involving:</a:t>
            </a:r>
          </a:p>
          <a:p>
            <a:pPr algn="l" marL="818869" indent="-272956" lvl="2">
              <a:lnSpc>
                <a:spcPts val="4298"/>
              </a:lnSpc>
              <a:buFont typeface="Arial"/>
              <a:buChar char="⚬"/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Sales performance</a:t>
            </a:r>
          </a:p>
          <a:p>
            <a:pPr algn="l" marL="818869" indent="-272956" lvl="2">
              <a:lnSpc>
                <a:spcPts val="4298"/>
              </a:lnSpc>
              <a:buFont typeface="Arial"/>
              <a:buChar char="⚬"/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categories</a:t>
            </a:r>
          </a:p>
          <a:p>
            <a:pPr algn="l" marL="818869" indent="-272956" lvl="2">
              <a:lnSpc>
                <a:spcPts val="4298"/>
              </a:lnSpc>
              <a:buFont typeface="Arial"/>
              <a:buChar char="⚬"/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behavior</a:t>
            </a:r>
          </a:p>
          <a:p>
            <a:pPr algn="l" marL="818869" indent="-272956" lvl="2">
              <a:lnSpc>
                <a:spcPts val="4298"/>
              </a:lnSpc>
              <a:buFont typeface="Arial"/>
              <a:buChar char="⚬"/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Revenue trends</a:t>
            </a:r>
          </a:p>
          <a:p>
            <a:pPr algn="l" marL="818869" indent="-272956" lvl="2">
              <a:lnSpc>
                <a:spcPts val="4298"/>
              </a:lnSpc>
              <a:buFont typeface="Arial"/>
              <a:buChar char="⚬"/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retention</a:t>
            </a:r>
          </a:p>
          <a:p>
            <a:pPr algn="l" marL="818869" indent="-272956" lvl="2">
              <a:lnSpc>
                <a:spcPts val="4298"/>
              </a:lnSpc>
              <a:buFont typeface="Arial"/>
              <a:buChar char="⚬"/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Spending patterns</a:t>
            </a:r>
          </a:p>
          <a:p>
            <a:pPr algn="l" marL="818869" indent="-272956" lvl="2">
              <a:lnSpc>
                <a:spcPts val="4298"/>
              </a:lnSpc>
              <a:buFont typeface="Arial"/>
              <a:buChar char="⚬"/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rankings</a:t>
            </a:r>
          </a:p>
          <a:p>
            <a:pPr algn="l" marL="818869" indent="-272956" lvl="2">
              <a:lnSpc>
                <a:spcPts val="4298"/>
              </a:lnSpc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By implementing the analysis in both SQL and Python and comparing the outputs, the project provides a structured approach to cross-tool validation and analytical accuracy.</a:t>
            </a:r>
          </a:p>
          <a:p>
            <a:pPr algn="l" marL="818869" indent="-272956" lvl="2">
              <a:lnSpc>
                <a:spcPts val="4298"/>
              </a:lnSpc>
            </a:pPr>
          </a:p>
          <a:p>
            <a:pPr algn="l" marL="818869" indent="-272956" lvl="2">
              <a:lnSpc>
                <a:spcPts val="4298"/>
              </a:lnSpc>
            </a:pPr>
            <a:r>
              <a:rPr lang="en-US" sz="358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validated results were then used to derive meaningful business insights from the e-commerce dataset.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04707" y="3382613"/>
            <a:ext cx="6888756" cy="240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22"/>
              </a:lnSpc>
            </a:pPr>
            <a:r>
              <a:rPr lang="en-US" sz="12435" b="true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41195" y="6222282"/>
            <a:ext cx="688875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~</a:t>
            </a: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Ankita Sarkar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DAHWxtyeOJo</dc:identifier>
  <dcterms:modified xsi:type="dcterms:W3CDTF">2011-08-01T06:04:30Z</dcterms:modified>
  <cp:revision>1</cp:revision>
  <dc:title>BASIC 3 — Total sales per category</dc:title>
</cp:coreProperties>
</file>