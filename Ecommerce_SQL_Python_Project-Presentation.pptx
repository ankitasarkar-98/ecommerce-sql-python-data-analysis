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x="18288000" cy="10287000"/>
  <p:notesSz cx="6858000" cy="9144000"/>
  <p:embeddedFontLst>
    <p:embeddedFont>
      <p:font typeface="Calibri (MS) Bold" charset="1" panose="020F0702030404030204"/>
      <p:regular r:id="rId28"/>
    </p:embeddedFont>
    <p:embeddedFont>
      <p:font typeface="Calibri (MS)" charset="1" panose="020F0502020204030204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19.png" Type="http://schemas.openxmlformats.org/officeDocument/2006/relationships/image"/><Relationship Id="rId5" Target="../media/image2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22.png" Type="http://schemas.openxmlformats.org/officeDocument/2006/relationships/image"/><Relationship Id="rId4" Target="../media/image23.png" Type="http://schemas.openxmlformats.org/officeDocument/2006/relationships/image"/><Relationship Id="rId5" Target="../media/image24.png" Type="http://schemas.openxmlformats.org/officeDocument/2006/relationships/image"/><Relationship Id="rId6" Target="../media/image2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png" Type="http://schemas.openxmlformats.org/officeDocument/2006/relationships/image"/><Relationship Id="rId4" Target="../media/image28.pn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Relationship Id="rId3" Target="../media/image32.png" Type="http://schemas.openxmlformats.org/officeDocument/2006/relationships/image"/><Relationship Id="rId4" Target="../media/image33.png" Type="http://schemas.openxmlformats.org/officeDocument/2006/relationships/image"/><Relationship Id="rId5" Target="../media/image34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Relationship Id="rId4" Target="../media/image37.png" Type="http://schemas.openxmlformats.org/officeDocument/2006/relationships/image"/><Relationship Id="rId5" Target="../media/image38.png" Type="http://schemas.openxmlformats.org/officeDocument/2006/relationships/image"/><Relationship Id="rId6" Target="../media/image3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Relationship Id="rId3" Target="../media/image41.png" Type="http://schemas.openxmlformats.org/officeDocument/2006/relationships/image"/><Relationship Id="rId4" Target="../media/image42.png" Type="http://schemas.openxmlformats.org/officeDocument/2006/relationships/image"/><Relationship Id="rId5" Target="../media/image43.png" Type="http://schemas.openxmlformats.org/officeDocument/2006/relationships/image"/><Relationship Id="rId6" Target="../media/image4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5.png" Type="http://schemas.openxmlformats.org/officeDocument/2006/relationships/image"/><Relationship Id="rId3" Target="../media/image46.png" Type="http://schemas.openxmlformats.org/officeDocument/2006/relationships/image"/><Relationship Id="rId4" Target="../media/image47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8.png" Type="http://schemas.openxmlformats.org/officeDocument/2006/relationships/image"/><Relationship Id="rId3" Target="../media/image49.png" Type="http://schemas.openxmlformats.org/officeDocument/2006/relationships/image"/><Relationship Id="rId4" Target="../media/image50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1.png" Type="http://schemas.openxmlformats.org/officeDocument/2006/relationships/image"/><Relationship Id="rId3" Target="../media/image52.png" Type="http://schemas.openxmlformats.org/officeDocument/2006/relationships/image"/><Relationship Id="rId4" Target="../media/image53.png" Type="http://schemas.openxmlformats.org/officeDocument/2006/relationships/image"/><Relationship Id="rId5" Target="../media/image54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5.png" Type="http://schemas.openxmlformats.org/officeDocument/2006/relationships/image"/><Relationship Id="rId3" Target="../media/image56.png" Type="http://schemas.openxmlformats.org/officeDocument/2006/relationships/image"/><Relationship Id="rId4" Target="../media/image57.png" Type="http://schemas.openxmlformats.org/officeDocument/2006/relationships/image"/><Relationship Id="rId5" Target="../media/image58.png" Type="http://schemas.openxmlformats.org/officeDocument/2006/relationships/image"/><Relationship Id="rId6" Target="../media/image5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0.png" Type="http://schemas.openxmlformats.org/officeDocument/2006/relationships/image"/><Relationship Id="rId3" Target="../media/image61.png" Type="http://schemas.openxmlformats.org/officeDocument/2006/relationships/image"/><Relationship Id="rId4" Target="../media/image62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3.png" Type="http://schemas.openxmlformats.org/officeDocument/2006/relationships/image"/><Relationship Id="rId3" Target="../media/image64.png" Type="http://schemas.openxmlformats.org/officeDocument/2006/relationships/image"/><Relationship Id="rId4" Target="../media/image65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034465" y="637280"/>
            <a:ext cx="12157119" cy="2106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079"/>
              </a:lnSpc>
            </a:pPr>
            <a:r>
              <a:rPr lang="en-US" sz="10899" b="true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E-commerce Analysis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3895927" y="7584748"/>
            <a:ext cx="3563064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9"/>
              </a:lnSpc>
            </a:pPr>
            <a:r>
              <a:rPr lang="en-US" sz="33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~By Ankita Sarkar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47153" y="3789493"/>
            <a:ext cx="13393817" cy="2028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19"/>
              </a:lnSpc>
            </a:pPr>
            <a:r>
              <a:rPr lang="en-US" sz="4098" b="true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Project:</a:t>
            </a:r>
            <a:r>
              <a:rPr lang="en-US" sz="4098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E-Commerce Sales &amp; Customer Analysis</a:t>
            </a:r>
          </a:p>
          <a:p>
            <a:pPr algn="l">
              <a:lnSpc>
                <a:spcPts val="4919"/>
              </a:lnSpc>
            </a:pPr>
            <a:r>
              <a:rPr lang="en-US" sz="4098" b="true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Tools: </a:t>
            </a:r>
            <a:r>
              <a:rPr lang="en-US" sz="4098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&amp; Python</a:t>
            </a:r>
          </a:p>
          <a:p>
            <a:pPr algn="l">
              <a:lnSpc>
                <a:spcPts val="4919"/>
              </a:lnSpc>
            </a:pPr>
            <a:r>
              <a:rPr lang="en-US" sz="4098" b="true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Focus: </a:t>
            </a:r>
            <a:r>
              <a:rPr lang="en-US" sz="4098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Data Analysis, Business Insights &amp; Cross-Tool Validation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45820" y="160020"/>
            <a:ext cx="5727678" cy="1106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1. Project 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45820" y="1524000"/>
            <a:ext cx="15727680" cy="852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This project analyzes an e-commerce dataset to understand customer behavior, sales performance, product performance, and purchasing patterns using both SQL and Python.</a:t>
            </a:r>
          </a:p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same analytical questions were solved independently using SQL queries and Python-based data analysis.</a:t>
            </a:r>
          </a:p>
          <a:p>
            <a:pPr algn="l">
              <a:lnSpc>
                <a:spcPts val="4320"/>
              </a:lnSpc>
            </a:pPr>
          </a:p>
          <a:p>
            <a:pPr algn="l">
              <a:lnSpc>
                <a:spcPts val="6239"/>
              </a:lnSpc>
            </a:pPr>
            <a:r>
              <a:rPr lang="en-US" sz="5198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</a:t>
            </a:r>
            <a:r>
              <a:rPr lang="en-US" b="true" sz="5198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Objectives</a:t>
            </a:r>
          </a:p>
          <a:p>
            <a:pPr algn="l" marL="822960" indent="-274320" lvl="2">
              <a:lnSpc>
                <a:spcPts val="432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Analyze customer and order information.</a:t>
            </a:r>
          </a:p>
          <a:p>
            <a:pPr algn="l" marL="822960" indent="-274320" lvl="2">
              <a:lnSpc>
                <a:spcPts val="432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Evaluate sales and product-category performance.</a:t>
            </a:r>
          </a:p>
          <a:p>
            <a:pPr algn="l" marL="822960" indent="-274320" lvl="2">
              <a:lnSpc>
                <a:spcPts val="432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Identify customer purchasing patterns.</a:t>
            </a:r>
          </a:p>
          <a:p>
            <a:pPr algn="l" marL="822960" indent="-274320" lvl="2">
              <a:lnSpc>
                <a:spcPts val="432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Perform advanced sales and customer analysis.</a:t>
            </a:r>
          </a:p>
          <a:p>
            <a:pPr algn="l" marL="822960" indent="-274320" lvl="2">
              <a:lnSpc>
                <a:spcPts val="432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Reproduce SQL analysis using Python.</a:t>
            </a:r>
          </a:p>
          <a:p>
            <a:pPr algn="l" marL="822960" indent="-274320" lvl="2">
              <a:lnSpc>
                <a:spcPts val="432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Compare SQL and Python outputs for consistency and accuracy.</a:t>
            </a:r>
          </a:p>
          <a:p>
            <a:pPr algn="l" marL="822960" indent="-274320" lvl="2">
              <a:lnSpc>
                <a:spcPts val="4320"/>
              </a:lnSpc>
              <a:buFont typeface="Arial"/>
              <a:buChar char="⚬"/>
            </a:pPr>
            <a:r>
              <a:rPr lang="en-US" sz="36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Validate that both approaches produce equivalent results.</a:t>
            </a:r>
          </a:p>
          <a:p>
            <a:pPr algn="l" marL="822960" indent="-274320" lvl="2">
              <a:lnSpc>
                <a:spcPts val="4320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2133090"/>
            <a:ext cx="7749202" cy="3178837"/>
          </a:xfrm>
          <a:custGeom>
            <a:avLst/>
            <a:gdLst/>
            <a:ahLst/>
            <a:cxnLst/>
            <a:rect r="r" b="b" t="t" l="l"/>
            <a:pathLst>
              <a:path h="3178837" w="7749202">
                <a:moveTo>
                  <a:pt x="0" y="0"/>
                </a:moveTo>
                <a:lnTo>
                  <a:pt x="7749202" y="0"/>
                </a:lnTo>
                <a:lnTo>
                  <a:pt x="7749202" y="3178836"/>
                </a:lnTo>
                <a:lnTo>
                  <a:pt x="0" y="31788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788" t="0" r="-5323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5685350"/>
            <a:ext cx="3250507" cy="4601650"/>
          </a:xfrm>
          <a:custGeom>
            <a:avLst/>
            <a:gdLst/>
            <a:ahLst/>
            <a:cxnLst/>
            <a:rect r="r" b="b" t="t" l="l"/>
            <a:pathLst>
              <a:path h="4601650" w="3250507">
                <a:moveTo>
                  <a:pt x="0" y="0"/>
                </a:moveTo>
                <a:lnTo>
                  <a:pt x="3250507" y="0"/>
                </a:lnTo>
                <a:lnTo>
                  <a:pt x="3250507" y="4601650"/>
                </a:lnTo>
                <a:lnTo>
                  <a:pt x="0" y="46016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-42507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572440" y="828056"/>
            <a:ext cx="8488795" cy="5132381"/>
          </a:xfrm>
          <a:custGeom>
            <a:avLst/>
            <a:gdLst/>
            <a:ahLst/>
            <a:cxnLst/>
            <a:rect r="r" b="b" t="t" l="l"/>
            <a:pathLst>
              <a:path h="5132381" w="8488795">
                <a:moveTo>
                  <a:pt x="0" y="0"/>
                </a:moveTo>
                <a:lnTo>
                  <a:pt x="8488795" y="0"/>
                </a:lnTo>
                <a:lnTo>
                  <a:pt x="8488795" y="5132381"/>
                </a:lnTo>
                <a:lnTo>
                  <a:pt x="0" y="513238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572440" y="6145387"/>
            <a:ext cx="5494955" cy="3982582"/>
          </a:xfrm>
          <a:custGeom>
            <a:avLst/>
            <a:gdLst/>
            <a:ahLst/>
            <a:cxnLst/>
            <a:rect r="r" b="b" t="t" l="l"/>
            <a:pathLst>
              <a:path h="3982582" w="5494955">
                <a:moveTo>
                  <a:pt x="0" y="0"/>
                </a:moveTo>
                <a:lnTo>
                  <a:pt x="5494955" y="0"/>
                </a:lnTo>
                <a:lnTo>
                  <a:pt x="5494955" y="3982582"/>
                </a:lnTo>
                <a:lnTo>
                  <a:pt x="0" y="39825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0" y="121320"/>
            <a:ext cx="16550640" cy="98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b="true" sz="30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 1 — Unique Cities Where Customers Are Located</a:t>
            </a:r>
          </a:p>
          <a:p>
            <a:pPr algn="l">
              <a:lnSpc>
                <a:spcPts val="3600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41327" y="838200"/>
            <a:ext cx="3248498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b="true" sz="28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368532" y="130845"/>
            <a:ext cx="3459252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  <a:spcBef>
                <a:spcPct val="0"/>
              </a:spcBef>
            </a:pPr>
            <a:r>
              <a:rPr lang="en-US" b="true" sz="29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6808" y="2737987"/>
            <a:ext cx="7835798" cy="4811026"/>
            <a:chOff x="0" y="0"/>
            <a:chExt cx="10818573" cy="66423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18560" cy="6642354"/>
            </a:xfrm>
            <a:custGeom>
              <a:avLst/>
              <a:gdLst/>
              <a:ahLst/>
              <a:cxnLst/>
              <a:rect r="r" b="b" t="t" l="l"/>
              <a:pathLst>
                <a:path h="6642354" w="10818560">
                  <a:moveTo>
                    <a:pt x="0" y="0"/>
                  </a:moveTo>
                  <a:lnTo>
                    <a:pt x="10818560" y="0"/>
                  </a:lnTo>
                  <a:lnTo>
                    <a:pt x="10818560" y="6642354"/>
                  </a:lnTo>
                  <a:lnTo>
                    <a:pt x="0" y="66423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471" t="0" r="-247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8618907" y="2737987"/>
            <a:ext cx="9506674" cy="3087795"/>
            <a:chOff x="0" y="0"/>
            <a:chExt cx="12675565" cy="411706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675615" cy="4117086"/>
            </a:xfrm>
            <a:custGeom>
              <a:avLst/>
              <a:gdLst/>
              <a:ahLst/>
              <a:cxnLst/>
              <a:rect r="r" b="b" t="t" l="l"/>
              <a:pathLst>
                <a:path h="4117086" w="12675615">
                  <a:moveTo>
                    <a:pt x="0" y="0"/>
                  </a:moveTo>
                  <a:lnTo>
                    <a:pt x="12675615" y="0"/>
                  </a:lnTo>
                  <a:lnTo>
                    <a:pt x="12675615" y="4117086"/>
                  </a:lnTo>
                  <a:lnTo>
                    <a:pt x="0" y="4117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866" t="0" r="-5866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36808" y="137220"/>
            <a:ext cx="13930980" cy="561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58"/>
              </a:lnSpc>
            </a:pPr>
            <a:r>
              <a:rPr lang="en-US" sz="32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Basic-2 Number of Orders Placed in 2017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6808" y="1423078"/>
            <a:ext cx="3615592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13660" y="1423078"/>
            <a:ext cx="415412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460381"/>
            <a:ext cx="7467230" cy="4437049"/>
          </a:xfrm>
          <a:custGeom>
            <a:avLst/>
            <a:gdLst/>
            <a:ahLst/>
            <a:cxnLst/>
            <a:rect r="r" b="b" t="t" l="l"/>
            <a:pathLst>
              <a:path h="4437049" w="7467230">
                <a:moveTo>
                  <a:pt x="0" y="0"/>
                </a:moveTo>
                <a:lnTo>
                  <a:pt x="7467230" y="0"/>
                </a:lnTo>
                <a:lnTo>
                  <a:pt x="7467230" y="4437050"/>
                </a:lnTo>
                <a:lnTo>
                  <a:pt x="0" y="44370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410119"/>
            <a:ext cx="6288819" cy="3458850"/>
          </a:xfrm>
          <a:custGeom>
            <a:avLst/>
            <a:gdLst/>
            <a:ahLst/>
            <a:cxnLst/>
            <a:rect r="r" b="b" t="t" l="l"/>
            <a:pathLst>
              <a:path h="3458850" w="6288819">
                <a:moveTo>
                  <a:pt x="0" y="0"/>
                </a:moveTo>
                <a:lnTo>
                  <a:pt x="6288819" y="0"/>
                </a:lnTo>
                <a:lnTo>
                  <a:pt x="6288819" y="3458850"/>
                </a:lnTo>
                <a:lnTo>
                  <a:pt x="0" y="34588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349734" y="610904"/>
            <a:ext cx="6236265" cy="6778549"/>
          </a:xfrm>
          <a:custGeom>
            <a:avLst/>
            <a:gdLst/>
            <a:ahLst/>
            <a:cxnLst/>
            <a:rect r="r" b="b" t="t" l="l"/>
            <a:pathLst>
              <a:path h="6778549" w="6236265">
                <a:moveTo>
                  <a:pt x="0" y="0"/>
                </a:moveTo>
                <a:lnTo>
                  <a:pt x="6236265" y="0"/>
                </a:lnTo>
                <a:lnTo>
                  <a:pt x="6236265" y="6778549"/>
                </a:lnTo>
                <a:lnTo>
                  <a:pt x="0" y="67785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349734" y="7548034"/>
            <a:ext cx="6463247" cy="2738966"/>
          </a:xfrm>
          <a:custGeom>
            <a:avLst/>
            <a:gdLst/>
            <a:ahLst/>
            <a:cxnLst/>
            <a:rect r="r" b="b" t="t" l="l"/>
            <a:pathLst>
              <a:path h="2738966" w="6463247">
                <a:moveTo>
                  <a:pt x="0" y="0"/>
                </a:moveTo>
                <a:lnTo>
                  <a:pt x="6463247" y="0"/>
                </a:lnTo>
                <a:lnTo>
                  <a:pt x="6463247" y="2738966"/>
                </a:lnTo>
                <a:lnTo>
                  <a:pt x="0" y="27389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9658" t="-3506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0" y="106052"/>
            <a:ext cx="8953838" cy="933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9"/>
              </a:lnSpc>
            </a:pPr>
            <a:r>
              <a:rPr lang="en-US" b="true" sz="2900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 3 — Total sales per category</a:t>
            </a:r>
          </a:p>
          <a:p>
            <a:pPr algn="l">
              <a:lnSpc>
                <a:spcPts val="347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0" y="733425"/>
            <a:ext cx="326412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652993" y="144179"/>
            <a:ext cx="464455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947352" y="1202878"/>
            <a:ext cx="8018791" cy="8905003"/>
          </a:xfrm>
          <a:custGeom>
            <a:avLst/>
            <a:gdLst/>
            <a:ahLst/>
            <a:cxnLst/>
            <a:rect r="r" b="b" t="t" l="l"/>
            <a:pathLst>
              <a:path h="8905003" w="8018791">
                <a:moveTo>
                  <a:pt x="0" y="0"/>
                </a:moveTo>
                <a:lnTo>
                  <a:pt x="8018790" y="0"/>
                </a:lnTo>
                <a:lnTo>
                  <a:pt x="8018790" y="8905003"/>
                </a:lnTo>
                <a:lnTo>
                  <a:pt x="0" y="89050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2569530"/>
            <a:ext cx="9144000" cy="3393989"/>
          </a:xfrm>
          <a:custGeom>
            <a:avLst/>
            <a:gdLst/>
            <a:ahLst/>
            <a:cxnLst/>
            <a:rect r="r" b="b" t="t" l="l"/>
            <a:pathLst>
              <a:path h="3393989" w="9144000">
                <a:moveTo>
                  <a:pt x="0" y="0"/>
                </a:moveTo>
                <a:lnTo>
                  <a:pt x="9144000" y="0"/>
                </a:lnTo>
                <a:lnTo>
                  <a:pt x="9144000" y="3393990"/>
                </a:lnTo>
                <a:lnTo>
                  <a:pt x="0" y="33939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1327" y="6401670"/>
            <a:ext cx="5304157" cy="1648184"/>
          </a:xfrm>
          <a:custGeom>
            <a:avLst/>
            <a:gdLst/>
            <a:ahLst/>
            <a:cxnLst/>
            <a:rect r="r" b="b" t="t" l="l"/>
            <a:pathLst>
              <a:path h="1648184" w="5304157">
                <a:moveTo>
                  <a:pt x="0" y="0"/>
                </a:moveTo>
                <a:lnTo>
                  <a:pt x="5304157" y="0"/>
                </a:lnTo>
                <a:lnTo>
                  <a:pt x="5304157" y="1648184"/>
                </a:lnTo>
                <a:lnTo>
                  <a:pt x="0" y="16481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1327" y="142875"/>
            <a:ext cx="11981189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</a:pPr>
            <a:r>
              <a:rPr lang="en-US" sz="33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 4 — Percentage of orders paid in installments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1327" y="1607505"/>
            <a:ext cx="3572278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330765" y="238125"/>
            <a:ext cx="396037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  <a:spcBef>
                <a:spcPct val="0"/>
              </a:spcBef>
            </a:pPr>
            <a:r>
              <a:rPr lang="en-US" b="true" sz="28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2401015"/>
            <a:ext cx="8791517" cy="6120093"/>
            <a:chOff x="0" y="0"/>
            <a:chExt cx="12489193" cy="869417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489180" cy="8694230"/>
            </a:xfrm>
            <a:custGeom>
              <a:avLst/>
              <a:gdLst/>
              <a:ahLst/>
              <a:cxnLst/>
              <a:rect r="r" b="b" t="t" l="l"/>
              <a:pathLst>
                <a:path h="8694230" w="12489180">
                  <a:moveTo>
                    <a:pt x="0" y="0"/>
                  </a:moveTo>
                  <a:lnTo>
                    <a:pt x="12489180" y="0"/>
                  </a:lnTo>
                  <a:lnTo>
                    <a:pt x="12489180" y="8694230"/>
                  </a:lnTo>
                  <a:lnTo>
                    <a:pt x="0" y="86942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085" t="0" r="-1085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9658319" y="1601533"/>
            <a:ext cx="8234247" cy="4475134"/>
          </a:xfrm>
          <a:custGeom>
            <a:avLst/>
            <a:gdLst/>
            <a:ahLst/>
            <a:cxnLst/>
            <a:rect r="r" b="b" t="t" l="l"/>
            <a:pathLst>
              <a:path h="4475134" w="8234247">
                <a:moveTo>
                  <a:pt x="0" y="0"/>
                </a:moveTo>
                <a:lnTo>
                  <a:pt x="8234246" y="0"/>
                </a:lnTo>
                <a:lnTo>
                  <a:pt x="8234246" y="4475134"/>
                </a:lnTo>
                <a:lnTo>
                  <a:pt x="0" y="44751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658319" y="6454237"/>
            <a:ext cx="6072464" cy="2665280"/>
          </a:xfrm>
          <a:custGeom>
            <a:avLst/>
            <a:gdLst/>
            <a:ahLst/>
            <a:cxnLst/>
            <a:rect r="r" b="b" t="t" l="l"/>
            <a:pathLst>
              <a:path h="2665280" w="6072464">
                <a:moveTo>
                  <a:pt x="0" y="0"/>
                </a:moveTo>
                <a:lnTo>
                  <a:pt x="6072464" y="0"/>
                </a:lnTo>
                <a:lnTo>
                  <a:pt x="6072464" y="2665280"/>
                </a:lnTo>
                <a:lnTo>
                  <a:pt x="0" y="26652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208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0" y="28575"/>
            <a:ext cx="8342629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31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BASIC 5 — Customers from each state</a:t>
            </a:r>
          </a:p>
          <a:p>
            <a:pPr algn="l">
              <a:lnSpc>
                <a:spcPts val="3720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96751" y="1471787"/>
            <a:ext cx="3721315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625169" y="776288"/>
            <a:ext cx="3985515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3491" y="1158642"/>
            <a:ext cx="7452800" cy="4416474"/>
          </a:xfrm>
          <a:custGeom>
            <a:avLst/>
            <a:gdLst/>
            <a:ahLst/>
            <a:cxnLst/>
            <a:rect r="r" b="b" t="t" l="l"/>
            <a:pathLst>
              <a:path h="4416474" w="7452800">
                <a:moveTo>
                  <a:pt x="0" y="0"/>
                </a:moveTo>
                <a:lnTo>
                  <a:pt x="7452800" y="0"/>
                </a:lnTo>
                <a:lnTo>
                  <a:pt x="7452800" y="4416474"/>
                </a:lnTo>
                <a:lnTo>
                  <a:pt x="0" y="44164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3491" y="5851341"/>
            <a:ext cx="5527256" cy="4410823"/>
          </a:xfrm>
          <a:custGeom>
            <a:avLst/>
            <a:gdLst/>
            <a:ahLst/>
            <a:cxnLst/>
            <a:rect r="r" b="b" t="t" l="l"/>
            <a:pathLst>
              <a:path h="4410823" w="5527256">
                <a:moveTo>
                  <a:pt x="0" y="0"/>
                </a:moveTo>
                <a:lnTo>
                  <a:pt x="5527256" y="0"/>
                </a:lnTo>
                <a:lnTo>
                  <a:pt x="5527256" y="4410823"/>
                </a:lnTo>
                <a:lnTo>
                  <a:pt x="0" y="44108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499525" y="542925"/>
            <a:ext cx="5478128" cy="6597315"/>
          </a:xfrm>
          <a:custGeom>
            <a:avLst/>
            <a:gdLst/>
            <a:ahLst/>
            <a:cxnLst/>
            <a:rect r="r" b="b" t="t" l="l"/>
            <a:pathLst>
              <a:path h="6597315" w="5478128">
                <a:moveTo>
                  <a:pt x="0" y="0"/>
                </a:moveTo>
                <a:lnTo>
                  <a:pt x="5478128" y="0"/>
                </a:lnTo>
                <a:lnTo>
                  <a:pt x="5478128" y="6597315"/>
                </a:lnTo>
                <a:lnTo>
                  <a:pt x="0" y="65973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499525" y="7323734"/>
            <a:ext cx="4525431" cy="2938430"/>
          </a:xfrm>
          <a:custGeom>
            <a:avLst/>
            <a:gdLst/>
            <a:ahLst/>
            <a:cxnLst/>
            <a:rect r="r" b="b" t="t" l="l"/>
            <a:pathLst>
              <a:path h="2938430" w="4525431">
                <a:moveTo>
                  <a:pt x="0" y="0"/>
                </a:moveTo>
                <a:lnTo>
                  <a:pt x="4525431" y="0"/>
                </a:lnTo>
                <a:lnTo>
                  <a:pt x="4525431" y="2938430"/>
                </a:lnTo>
                <a:lnTo>
                  <a:pt x="0" y="29384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0" y="28575"/>
            <a:ext cx="10833187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0"/>
              </a:lnSpc>
            </a:pPr>
            <a:r>
              <a:rPr lang="en-US" sz="29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1 — Orders per month in 2018</a:t>
            </a:r>
          </a:p>
          <a:p>
            <a:pPr algn="l">
              <a:lnSpc>
                <a:spcPts val="3480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96751" y="476250"/>
            <a:ext cx="3981200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162818" y="95250"/>
            <a:ext cx="552316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true" sz="25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2719" y="597825"/>
            <a:ext cx="6887767" cy="4545675"/>
          </a:xfrm>
          <a:custGeom>
            <a:avLst/>
            <a:gdLst/>
            <a:ahLst/>
            <a:cxnLst/>
            <a:rect r="r" b="b" t="t" l="l"/>
            <a:pathLst>
              <a:path h="4545675" w="6887767">
                <a:moveTo>
                  <a:pt x="0" y="0"/>
                </a:moveTo>
                <a:lnTo>
                  <a:pt x="6887768" y="0"/>
                </a:lnTo>
                <a:lnTo>
                  <a:pt x="6887768" y="4545675"/>
                </a:lnTo>
                <a:lnTo>
                  <a:pt x="0" y="45456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2719" y="5143500"/>
            <a:ext cx="6887767" cy="1976928"/>
          </a:xfrm>
          <a:custGeom>
            <a:avLst/>
            <a:gdLst/>
            <a:ahLst/>
            <a:cxnLst/>
            <a:rect r="r" b="b" t="t" l="l"/>
            <a:pathLst>
              <a:path h="1976928" w="6887767">
                <a:moveTo>
                  <a:pt x="0" y="0"/>
                </a:moveTo>
                <a:lnTo>
                  <a:pt x="6887768" y="0"/>
                </a:lnTo>
                <a:lnTo>
                  <a:pt x="6887768" y="1976928"/>
                </a:lnTo>
                <a:lnTo>
                  <a:pt x="0" y="19769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2719" y="7233606"/>
            <a:ext cx="3804101" cy="3085113"/>
          </a:xfrm>
          <a:custGeom>
            <a:avLst/>
            <a:gdLst/>
            <a:ahLst/>
            <a:cxnLst/>
            <a:rect r="r" b="b" t="t" l="l"/>
            <a:pathLst>
              <a:path h="3085113" w="3804101">
                <a:moveTo>
                  <a:pt x="0" y="0"/>
                </a:moveTo>
                <a:lnTo>
                  <a:pt x="3804101" y="0"/>
                </a:lnTo>
                <a:lnTo>
                  <a:pt x="3804101" y="3085112"/>
                </a:lnTo>
                <a:lnTo>
                  <a:pt x="0" y="30851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756844" y="361950"/>
            <a:ext cx="5387258" cy="6871656"/>
          </a:xfrm>
          <a:custGeom>
            <a:avLst/>
            <a:gdLst/>
            <a:ahLst/>
            <a:cxnLst/>
            <a:rect r="r" b="b" t="t" l="l"/>
            <a:pathLst>
              <a:path h="6871656" w="5387258">
                <a:moveTo>
                  <a:pt x="0" y="0"/>
                </a:moveTo>
                <a:lnTo>
                  <a:pt x="5387259" y="0"/>
                </a:lnTo>
                <a:lnTo>
                  <a:pt x="5387259" y="6871656"/>
                </a:lnTo>
                <a:lnTo>
                  <a:pt x="0" y="68716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48" t="-961" r="-348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756844" y="7423684"/>
            <a:ext cx="4582993" cy="2704956"/>
          </a:xfrm>
          <a:custGeom>
            <a:avLst/>
            <a:gdLst/>
            <a:ahLst/>
            <a:cxnLst/>
            <a:rect r="r" b="b" t="t" l="l"/>
            <a:pathLst>
              <a:path h="2704956" w="4582993">
                <a:moveTo>
                  <a:pt x="0" y="0"/>
                </a:moveTo>
                <a:lnTo>
                  <a:pt x="4582993" y="0"/>
                </a:lnTo>
                <a:lnTo>
                  <a:pt x="4582993" y="2704956"/>
                </a:lnTo>
                <a:lnTo>
                  <a:pt x="0" y="27049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202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65988" y="35850"/>
            <a:ext cx="9788997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25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2 — Average products per order by customer city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07717" y="138112"/>
            <a:ext cx="237321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118116" y="-19050"/>
            <a:ext cx="3060639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true" sz="2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4750118"/>
            <a:ext cx="5774283" cy="3269171"/>
          </a:xfrm>
          <a:custGeom>
            <a:avLst/>
            <a:gdLst/>
            <a:ahLst/>
            <a:cxnLst/>
            <a:rect r="r" b="b" t="t" l="l"/>
            <a:pathLst>
              <a:path h="3269171" w="5774283">
                <a:moveTo>
                  <a:pt x="0" y="0"/>
                </a:moveTo>
                <a:lnTo>
                  <a:pt x="5774283" y="0"/>
                </a:lnTo>
                <a:lnTo>
                  <a:pt x="5774283" y="3269171"/>
                </a:lnTo>
                <a:lnTo>
                  <a:pt x="0" y="326917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8190739"/>
            <a:ext cx="6908633" cy="2067667"/>
          </a:xfrm>
          <a:custGeom>
            <a:avLst/>
            <a:gdLst/>
            <a:ahLst/>
            <a:cxnLst/>
            <a:rect r="r" b="b" t="t" l="l"/>
            <a:pathLst>
              <a:path h="2067667" w="6908633">
                <a:moveTo>
                  <a:pt x="0" y="0"/>
                </a:moveTo>
                <a:lnTo>
                  <a:pt x="6908633" y="0"/>
                </a:lnTo>
                <a:lnTo>
                  <a:pt x="6908633" y="2067667"/>
                </a:lnTo>
                <a:lnTo>
                  <a:pt x="0" y="20676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128150" y="352425"/>
            <a:ext cx="6231080" cy="8120353"/>
          </a:xfrm>
          <a:custGeom>
            <a:avLst/>
            <a:gdLst/>
            <a:ahLst/>
            <a:cxnLst/>
            <a:rect r="r" b="b" t="t" l="l"/>
            <a:pathLst>
              <a:path h="8120353" w="6231080">
                <a:moveTo>
                  <a:pt x="0" y="0"/>
                </a:moveTo>
                <a:lnTo>
                  <a:pt x="6231080" y="0"/>
                </a:lnTo>
                <a:lnTo>
                  <a:pt x="6231080" y="8120353"/>
                </a:lnTo>
                <a:lnTo>
                  <a:pt x="0" y="81203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128150" y="8676265"/>
            <a:ext cx="6654299" cy="1582141"/>
          </a:xfrm>
          <a:custGeom>
            <a:avLst/>
            <a:gdLst/>
            <a:ahLst/>
            <a:cxnLst/>
            <a:rect r="r" b="b" t="t" l="l"/>
            <a:pathLst>
              <a:path h="1582141" w="6654299">
                <a:moveTo>
                  <a:pt x="0" y="0"/>
                </a:moveTo>
                <a:lnTo>
                  <a:pt x="6654299" y="0"/>
                </a:lnTo>
                <a:lnTo>
                  <a:pt x="6654299" y="1582141"/>
                </a:lnTo>
                <a:lnTo>
                  <a:pt x="0" y="158214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0" y="886676"/>
            <a:ext cx="7080720" cy="3691142"/>
          </a:xfrm>
          <a:custGeom>
            <a:avLst/>
            <a:gdLst/>
            <a:ahLst/>
            <a:cxnLst/>
            <a:rect r="r" b="b" t="t" l="l"/>
            <a:pathLst>
              <a:path h="3691142" w="7080720">
                <a:moveTo>
                  <a:pt x="0" y="0"/>
                </a:moveTo>
                <a:lnTo>
                  <a:pt x="7080720" y="0"/>
                </a:lnTo>
                <a:lnTo>
                  <a:pt x="7080720" y="3691141"/>
                </a:lnTo>
                <a:lnTo>
                  <a:pt x="0" y="3691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98111" y="-85725"/>
            <a:ext cx="9970531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8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3 — Revenue percentage by category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7662" y="314325"/>
            <a:ext cx="3128651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872542" y="-38100"/>
            <a:ext cx="4335394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144000" y="2886730"/>
            <a:ext cx="9187314" cy="6966205"/>
          </a:xfrm>
          <a:custGeom>
            <a:avLst/>
            <a:gdLst/>
            <a:ahLst/>
            <a:cxnLst/>
            <a:rect r="r" b="b" t="t" l="l"/>
            <a:pathLst>
              <a:path h="6966205" w="9187314">
                <a:moveTo>
                  <a:pt x="0" y="0"/>
                </a:moveTo>
                <a:lnTo>
                  <a:pt x="9187314" y="0"/>
                </a:lnTo>
                <a:lnTo>
                  <a:pt x="9187314" y="6966205"/>
                </a:lnTo>
                <a:lnTo>
                  <a:pt x="0" y="69662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49128"/>
            <a:ext cx="7796644" cy="5828920"/>
          </a:xfrm>
          <a:custGeom>
            <a:avLst/>
            <a:gdLst/>
            <a:ahLst/>
            <a:cxnLst/>
            <a:rect r="r" b="b" t="t" l="l"/>
            <a:pathLst>
              <a:path h="5828920" w="7796644">
                <a:moveTo>
                  <a:pt x="0" y="0"/>
                </a:moveTo>
                <a:lnTo>
                  <a:pt x="7796644" y="0"/>
                </a:lnTo>
                <a:lnTo>
                  <a:pt x="7796644" y="5828919"/>
                </a:lnTo>
                <a:lnTo>
                  <a:pt x="0" y="5828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6536891"/>
            <a:ext cx="7796644" cy="1979064"/>
          </a:xfrm>
          <a:custGeom>
            <a:avLst/>
            <a:gdLst/>
            <a:ahLst/>
            <a:cxnLst/>
            <a:rect r="r" b="b" t="t" l="l"/>
            <a:pathLst>
              <a:path h="1979064" w="7796644">
                <a:moveTo>
                  <a:pt x="0" y="0"/>
                </a:moveTo>
                <a:lnTo>
                  <a:pt x="7796644" y="0"/>
                </a:lnTo>
                <a:lnTo>
                  <a:pt x="7796644" y="1979064"/>
                </a:lnTo>
                <a:lnTo>
                  <a:pt x="0" y="19790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9002385"/>
            <a:ext cx="4817307" cy="1284615"/>
          </a:xfrm>
          <a:custGeom>
            <a:avLst/>
            <a:gdLst/>
            <a:ahLst/>
            <a:cxnLst/>
            <a:rect r="r" b="b" t="t" l="l"/>
            <a:pathLst>
              <a:path h="1284615" w="4817307">
                <a:moveTo>
                  <a:pt x="0" y="0"/>
                </a:moveTo>
                <a:lnTo>
                  <a:pt x="4817307" y="0"/>
                </a:lnTo>
                <a:lnTo>
                  <a:pt x="4817307" y="1284615"/>
                </a:lnTo>
                <a:lnTo>
                  <a:pt x="0" y="128461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79074" y="-57150"/>
            <a:ext cx="13653415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4 — Correlation between product price and purchase count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142610"/>
            <a:ext cx="303342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32375" y="1711808"/>
            <a:ext cx="4734187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true" sz="25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883115"/>
            <a:ext cx="5375925" cy="5056807"/>
          </a:xfrm>
          <a:custGeom>
            <a:avLst/>
            <a:gdLst/>
            <a:ahLst/>
            <a:cxnLst/>
            <a:rect r="r" b="b" t="t" l="l"/>
            <a:pathLst>
              <a:path h="5056807" w="5375925">
                <a:moveTo>
                  <a:pt x="0" y="0"/>
                </a:moveTo>
                <a:lnTo>
                  <a:pt x="5375925" y="0"/>
                </a:lnTo>
                <a:lnTo>
                  <a:pt x="5375925" y="5056807"/>
                </a:lnTo>
                <a:lnTo>
                  <a:pt x="0" y="50568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053272"/>
            <a:ext cx="4191832" cy="2109796"/>
          </a:xfrm>
          <a:custGeom>
            <a:avLst/>
            <a:gdLst/>
            <a:ahLst/>
            <a:cxnLst/>
            <a:rect r="r" b="b" t="t" l="l"/>
            <a:pathLst>
              <a:path h="2109796" w="4191832">
                <a:moveTo>
                  <a:pt x="0" y="0"/>
                </a:moveTo>
                <a:lnTo>
                  <a:pt x="4191832" y="0"/>
                </a:lnTo>
                <a:lnTo>
                  <a:pt x="4191832" y="2109796"/>
                </a:lnTo>
                <a:lnTo>
                  <a:pt x="0" y="21097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331694"/>
            <a:ext cx="6962074" cy="1955306"/>
          </a:xfrm>
          <a:custGeom>
            <a:avLst/>
            <a:gdLst/>
            <a:ahLst/>
            <a:cxnLst/>
            <a:rect r="r" b="b" t="t" l="l"/>
            <a:pathLst>
              <a:path h="1955306" w="6962074">
                <a:moveTo>
                  <a:pt x="0" y="0"/>
                </a:moveTo>
                <a:lnTo>
                  <a:pt x="6962074" y="0"/>
                </a:lnTo>
                <a:lnTo>
                  <a:pt x="6962074" y="1955306"/>
                </a:lnTo>
                <a:lnTo>
                  <a:pt x="0" y="1955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796941" y="502115"/>
            <a:ext cx="5642447" cy="7936125"/>
          </a:xfrm>
          <a:custGeom>
            <a:avLst/>
            <a:gdLst/>
            <a:ahLst/>
            <a:cxnLst/>
            <a:rect r="r" b="b" t="t" l="l"/>
            <a:pathLst>
              <a:path h="7936125" w="5642447">
                <a:moveTo>
                  <a:pt x="0" y="0"/>
                </a:moveTo>
                <a:lnTo>
                  <a:pt x="5642447" y="0"/>
                </a:lnTo>
                <a:lnTo>
                  <a:pt x="5642447" y="7936125"/>
                </a:lnTo>
                <a:lnTo>
                  <a:pt x="0" y="79361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796941" y="8704031"/>
            <a:ext cx="7491059" cy="1582969"/>
          </a:xfrm>
          <a:custGeom>
            <a:avLst/>
            <a:gdLst/>
            <a:ahLst/>
            <a:cxnLst/>
            <a:rect r="r" b="b" t="t" l="l"/>
            <a:pathLst>
              <a:path h="1582969" w="7491059">
                <a:moveTo>
                  <a:pt x="0" y="0"/>
                </a:moveTo>
                <a:lnTo>
                  <a:pt x="7491059" y="0"/>
                </a:lnTo>
                <a:lnTo>
                  <a:pt x="7491059" y="1582969"/>
                </a:lnTo>
                <a:lnTo>
                  <a:pt x="0" y="15829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0" y="16340"/>
            <a:ext cx="1106914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8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INTERMEDIATE 5 — Seller Revenue &amp; Ranking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6668" y="444965"/>
            <a:ext cx="311892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true" sz="25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247056" y="63965"/>
            <a:ext cx="4192761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true" sz="25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629816"/>
            <a:ext cx="4161437" cy="4744578"/>
          </a:xfrm>
          <a:custGeom>
            <a:avLst/>
            <a:gdLst/>
            <a:ahLst/>
            <a:cxnLst/>
            <a:rect r="r" b="b" t="t" l="l"/>
            <a:pathLst>
              <a:path h="4744578" w="4161437">
                <a:moveTo>
                  <a:pt x="0" y="0"/>
                </a:moveTo>
                <a:lnTo>
                  <a:pt x="4161437" y="0"/>
                </a:lnTo>
                <a:lnTo>
                  <a:pt x="4161437" y="4744578"/>
                </a:lnTo>
                <a:lnTo>
                  <a:pt x="0" y="47445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529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5374394"/>
            <a:ext cx="3809187" cy="3377805"/>
          </a:xfrm>
          <a:custGeom>
            <a:avLst/>
            <a:gdLst/>
            <a:ahLst/>
            <a:cxnLst/>
            <a:rect r="r" b="b" t="t" l="l"/>
            <a:pathLst>
              <a:path h="3377805" w="3809187">
                <a:moveTo>
                  <a:pt x="0" y="0"/>
                </a:moveTo>
                <a:lnTo>
                  <a:pt x="3809187" y="0"/>
                </a:lnTo>
                <a:lnTo>
                  <a:pt x="3809187" y="3377805"/>
                </a:lnTo>
                <a:lnTo>
                  <a:pt x="0" y="3377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963874"/>
            <a:ext cx="8693426" cy="1323126"/>
          </a:xfrm>
          <a:custGeom>
            <a:avLst/>
            <a:gdLst/>
            <a:ahLst/>
            <a:cxnLst/>
            <a:rect r="r" b="b" t="t" l="l"/>
            <a:pathLst>
              <a:path h="1323126" w="8693426">
                <a:moveTo>
                  <a:pt x="0" y="0"/>
                </a:moveTo>
                <a:lnTo>
                  <a:pt x="8693426" y="0"/>
                </a:lnTo>
                <a:lnTo>
                  <a:pt x="8693426" y="1323126"/>
                </a:lnTo>
                <a:lnTo>
                  <a:pt x="0" y="13231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144000" y="581025"/>
            <a:ext cx="7556536" cy="6172200"/>
          </a:xfrm>
          <a:custGeom>
            <a:avLst/>
            <a:gdLst/>
            <a:ahLst/>
            <a:cxnLst/>
            <a:rect r="r" b="b" t="t" l="l"/>
            <a:pathLst>
              <a:path h="6172200" w="7556536">
                <a:moveTo>
                  <a:pt x="0" y="0"/>
                </a:moveTo>
                <a:lnTo>
                  <a:pt x="7556536" y="0"/>
                </a:lnTo>
                <a:lnTo>
                  <a:pt x="7556536" y="6172200"/>
                </a:lnTo>
                <a:lnTo>
                  <a:pt x="0" y="61722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144000" y="6922851"/>
            <a:ext cx="9144000" cy="3364149"/>
          </a:xfrm>
          <a:custGeom>
            <a:avLst/>
            <a:gdLst/>
            <a:ahLst/>
            <a:cxnLst/>
            <a:rect r="r" b="b" t="t" l="l"/>
            <a:pathLst>
              <a:path h="3364149" w="9144000">
                <a:moveTo>
                  <a:pt x="0" y="0"/>
                </a:moveTo>
                <a:lnTo>
                  <a:pt x="9144000" y="0"/>
                </a:lnTo>
                <a:lnTo>
                  <a:pt x="9144000" y="3364149"/>
                </a:lnTo>
                <a:lnTo>
                  <a:pt x="0" y="33641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29200" y="9525"/>
            <a:ext cx="1158298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0"/>
              </a:lnSpc>
            </a:pPr>
            <a:r>
              <a:rPr lang="en-US" sz="24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1 — Moving Average of Order Values for Each Customer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0" y="180975"/>
            <a:ext cx="2327342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787902" y="133350"/>
            <a:ext cx="3920544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028700"/>
            <a:ext cx="6423206" cy="3841204"/>
          </a:xfrm>
          <a:custGeom>
            <a:avLst/>
            <a:gdLst/>
            <a:ahLst/>
            <a:cxnLst/>
            <a:rect r="r" b="b" t="t" l="l"/>
            <a:pathLst>
              <a:path h="3841204" w="6423206">
                <a:moveTo>
                  <a:pt x="0" y="0"/>
                </a:moveTo>
                <a:lnTo>
                  <a:pt x="6423206" y="0"/>
                </a:lnTo>
                <a:lnTo>
                  <a:pt x="6423206" y="3841204"/>
                </a:lnTo>
                <a:lnTo>
                  <a:pt x="0" y="38412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869904"/>
            <a:ext cx="5553306" cy="5297207"/>
          </a:xfrm>
          <a:custGeom>
            <a:avLst/>
            <a:gdLst/>
            <a:ahLst/>
            <a:cxnLst/>
            <a:rect r="r" b="b" t="t" l="l"/>
            <a:pathLst>
              <a:path h="5297207" w="5553306">
                <a:moveTo>
                  <a:pt x="0" y="0"/>
                </a:moveTo>
                <a:lnTo>
                  <a:pt x="5553306" y="0"/>
                </a:lnTo>
                <a:lnTo>
                  <a:pt x="5553306" y="5297207"/>
                </a:lnTo>
                <a:lnTo>
                  <a:pt x="0" y="52972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679556" y="1028700"/>
            <a:ext cx="7292811" cy="9138411"/>
          </a:xfrm>
          <a:custGeom>
            <a:avLst/>
            <a:gdLst/>
            <a:ahLst/>
            <a:cxnLst/>
            <a:rect r="r" b="b" t="t" l="l"/>
            <a:pathLst>
              <a:path h="9138411" w="7292811">
                <a:moveTo>
                  <a:pt x="0" y="0"/>
                </a:moveTo>
                <a:lnTo>
                  <a:pt x="7292811" y="0"/>
                </a:lnTo>
                <a:lnTo>
                  <a:pt x="7292811" y="9138411"/>
                </a:lnTo>
                <a:lnTo>
                  <a:pt x="0" y="9138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9525"/>
            <a:ext cx="13421582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2 — Cumulative Sales per Month for Each Year- SQL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951699" y="438150"/>
            <a:ext cx="3501866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8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SQL-Output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07717" y="581025"/>
            <a:ext cx="2903886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51020" y="489192"/>
            <a:ext cx="5520653" cy="6146983"/>
          </a:xfrm>
          <a:custGeom>
            <a:avLst/>
            <a:gdLst/>
            <a:ahLst/>
            <a:cxnLst/>
            <a:rect r="r" b="b" t="t" l="l"/>
            <a:pathLst>
              <a:path h="6146983" w="5520653">
                <a:moveTo>
                  <a:pt x="0" y="0"/>
                </a:moveTo>
                <a:lnTo>
                  <a:pt x="5520654" y="0"/>
                </a:lnTo>
                <a:lnTo>
                  <a:pt x="5520654" y="6146983"/>
                </a:lnTo>
                <a:lnTo>
                  <a:pt x="0" y="61469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1020" y="6721900"/>
            <a:ext cx="4873761" cy="3650825"/>
          </a:xfrm>
          <a:custGeom>
            <a:avLst/>
            <a:gdLst/>
            <a:ahLst/>
            <a:cxnLst/>
            <a:rect r="r" b="b" t="t" l="l"/>
            <a:pathLst>
              <a:path h="3650825" w="4873761">
                <a:moveTo>
                  <a:pt x="0" y="0"/>
                </a:moveTo>
                <a:lnTo>
                  <a:pt x="4873762" y="0"/>
                </a:lnTo>
                <a:lnTo>
                  <a:pt x="4873762" y="3650825"/>
                </a:lnTo>
                <a:lnTo>
                  <a:pt x="0" y="36508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903988" y="1483497"/>
            <a:ext cx="9151538" cy="8558992"/>
          </a:xfrm>
          <a:custGeom>
            <a:avLst/>
            <a:gdLst/>
            <a:ahLst/>
            <a:cxnLst/>
            <a:rect r="r" b="b" t="t" l="l"/>
            <a:pathLst>
              <a:path h="8558992" w="9151538">
                <a:moveTo>
                  <a:pt x="0" y="0"/>
                </a:moveTo>
                <a:lnTo>
                  <a:pt x="9151538" y="0"/>
                </a:lnTo>
                <a:lnTo>
                  <a:pt x="9151538" y="8558993"/>
                </a:lnTo>
                <a:lnTo>
                  <a:pt x="0" y="85589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750442" y="-44208"/>
            <a:ext cx="1173233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2 — Cumulative Sales per Month for Each Year-PYTHON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919150" y="728662"/>
            <a:ext cx="366970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PYTHON-Output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8767" y="89142"/>
            <a:ext cx="3295857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941476"/>
            <a:ext cx="5991790" cy="3886264"/>
          </a:xfrm>
          <a:custGeom>
            <a:avLst/>
            <a:gdLst/>
            <a:ahLst/>
            <a:cxnLst/>
            <a:rect r="r" b="b" t="t" l="l"/>
            <a:pathLst>
              <a:path h="3886264" w="5991790">
                <a:moveTo>
                  <a:pt x="0" y="0"/>
                </a:moveTo>
                <a:lnTo>
                  <a:pt x="5991790" y="0"/>
                </a:lnTo>
                <a:lnTo>
                  <a:pt x="5991790" y="3886263"/>
                </a:lnTo>
                <a:lnTo>
                  <a:pt x="0" y="38862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827739"/>
            <a:ext cx="8228153" cy="3651116"/>
          </a:xfrm>
          <a:custGeom>
            <a:avLst/>
            <a:gdLst/>
            <a:ahLst/>
            <a:cxnLst/>
            <a:rect r="r" b="b" t="t" l="l"/>
            <a:pathLst>
              <a:path h="3651116" w="8228153">
                <a:moveTo>
                  <a:pt x="0" y="0"/>
                </a:moveTo>
                <a:lnTo>
                  <a:pt x="8228153" y="0"/>
                </a:lnTo>
                <a:lnTo>
                  <a:pt x="8228153" y="3651116"/>
                </a:lnTo>
                <a:lnTo>
                  <a:pt x="0" y="36511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1579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17082"/>
            <a:ext cx="7612652" cy="1392558"/>
          </a:xfrm>
          <a:custGeom>
            <a:avLst/>
            <a:gdLst/>
            <a:ahLst/>
            <a:cxnLst/>
            <a:rect r="r" b="b" t="t" l="l"/>
            <a:pathLst>
              <a:path h="1392558" w="7612652">
                <a:moveTo>
                  <a:pt x="0" y="0"/>
                </a:moveTo>
                <a:lnTo>
                  <a:pt x="7612652" y="0"/>
                </a:lnTo>
                <a:lnTo>
                  <a:pt x="7612652" y="1392559"/>
                </a:lnTo>
                <a:lnTo>
                  <a:pt x="0" y="13925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345017" y="1700068"/>
            <a:ext cx="7942983" cy="7942983"/>
          </a:xfrm>
          <a:custGeom>
            <a:avLst/>
            <a:gdLst/>
            <a:ahLst/>
            <a:cxnLst/>
            <a:rect r="r" b="b" t="t" l="l"/>
            <a:pathLst>
              <a:path h="7942983" w="7942983">
                <a:moveTo>
                  <a:pt x="0" y="0"/>
                </a:moveTo>
                <a:lnTo>
                  <a:pt x="7942983" y="0"/>
                </a:lnTo>
                <a:lnTo>
                  <a:pt x="7942983" y="7942983"/>
                </a:lnTo>
                <a:lnTo>
                  <a:pt x="0" y="79429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249182" y="-5512"/>
            <a:ext cx="11789636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8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3 — Year-over-Year Growth Rate of Total Sales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404063"/>
            <a:ext cx="3564354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769214" y="971550"/>
            <a:ext cx="337911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  <a:spcBef>
                <a:spcPct val="0"/>
              </a:spcBef>
            </a:pPr>
            <a:r>
              <a:rPr lang="en-US" b="true" sz="26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485775"/>
            <a:ext cx="7667930" cy="4835396"/>
          </a:xfrm>
          <a:custGeom>
            <a:avLst/>
            <a:gdLst/>
            <a:ahLst/>
            <a:cxnLst/>
            <a:rect r="r" b="b" t="t" l="l"/>
            <a:pathLst>
              <a:path h="4835396" w="7667930">
                <a:moveTo>
                  <a:pt x="0" y="0"/>
                </a:moveTo>
                <a:lnTo>
                  <a:pt x="7667930" y="0"/>
                </a:lnTo>
                <a:lnTo>
                  <a:pt x="7667930" y="4835396"/>
                </a:lnTo>
                <a:lnTo>
                  <a:pt x="0" y="48353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14969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5340221"/>
            <a:ext cx="5557035" cy="4275304"/>
          </a:xfrm>
          <a:custGeom>
            <a:avLst/>
            <a:gdLst/>
            <a:ahLst/>
            <a:cxnLst/>
            <a:rect r="r" b="b" t="t" l="l"/>
            <a:pathLst>
              <a:path h="4275304" w="5557035">
                <a:moveTo>
                  <a:pt x="0" y="0"/>
                </a:moveTo>
                <a:lnTo>
                  <a:pt x="5557035" y="0"/>
                </a:lnTo>
                <a:lnTo>
                  <a:pt x="5557035" y="4275304"/>
                </a:lnTo>
                <a:lnTo>
                  <a:pt x="0" y="42753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9659569"/>
            <a:ext cx="6595326" cy="627431"/>
          </a:xfrm>
          <a:custGeom>
            <a:avLst/>
            <a:gdLst/>
            <a:ahLst/>
            <a:cxnLst/>
            <a:rect r="r" b="b" t="t" l="l"/>
            <a:pathLst>
              <a:path h="627431" w="6595326">
                <a:moveTo>
                  <a:pt x="0" y="0"/>
                </a:moveTo>
                <a:lnTo>
                  <a:pt x="6595326" y="0"/>
                </a:lnTo>
                <a:lnTo>
                  <a:pt x="6595326" y="627431"/>
                </a:lnTo>
                <a:lnTo>
                  <a:pt x="0" y="6274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703993" y="352425"/>
            <a:ext cx="5983658" cy="6102855"/>
          </a:xfrm>
          <a:custGeom>
            <a:avLst/>
            <a:gdLst/>
            <a:ahLst/>
            <a:cxnLst/>
            <a:rect r="r" b="b" t="t" l="l"/>
            <a:pathLst>
              <a:path h="6102855" w="5983658">
                <a:moveTo>
                  <a:pt x="0" y="0"/>
                </a:moveTo>
                <a:lnTo>
                  <a:pt x="5983658" y="0"/>
                </a:lnTo>
                <a:lnTo>
                  <a:pt x="5983658" y="6102855"/>
                </a:lnTo>
                <a:lnTo>
                  <a:pt x="0" y="61028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703993" y="6497228"/>
            <a:ext cx="5983658" cy="3454035"/>
          </a:xfrm>
          <a:custGeom>
            <a:avLst/>
            <a:gdLst/>
            <a:ahLst/>
            <a:cxnLst/>
            <a:rect r="r" b="b" t="t" l="l"/>
            <a:pathLst>
              <a:path h="3454035" w="5983658">
                <a:moveTo>
                  <a:pt x="0" y="0"/>
                </a:moveTo>
                <a:lnTo>
                  <a:pt x="5983658" y="0"/>
                </a:lnTo>
                <a:lnTo>
                  <a:pt x="5983658" y="3454035"/>
                </a:lnTo>
                <a:lnTo>
                  <a:pt x="0" y="34540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11243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035760" y="-28575"/>
            <a:ext cx="11629149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25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4 — Customer Retention Rate Within 6 Months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0" y="85725"/>
            <a:ext cx="3208473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532882" y="-38100"/>
            <a:ext cx="3032606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60"/>
              </a:lnSpc>
              <a:spcBef>
                <a:spcPct val="0"/>
              </a:spcBef>
            </a:pPr>
            <a:r>
              <a:rPr lang="en-US" b="true" sz="23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Code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1223017"/>
            <a:ext cx="6734236" cy="3641389"/>
          </a:xfrm>
          <a:custGeom>
            <a:avLst/>
            <a:gdLst/>
            <a:ahLst/>
            <a:cxnLst/>
            <a:rect r="r" b="b" t="t" l="l"/>
            <a:pathLst>
              <a:path h="3641389" w="6734236">
                <a:moveTo>
                  <a:pt x="0" y="0"/>
                </a:moveTo>
                <a:lnTo>
                  <a:pt x="6734236" y="0"/>
                </a:lnTo>
                <a:lnTo>
                  <a:pt x="6734236" y="3641389"/>
                </a:lnTo>
                <a:lnTo>
                  <a:pt x="0" y="36413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864406"/>
            <a:ext cx="8779568" cy="4739819"/>
          </a:xfrm>
          <a:custGeom>
            <a:avLst/>
            <a:gdLst/>
            <a:ahLst/>
            <a:cxnLst/>
            <a:rect r="r" b="b" t="t" l="l"/>
            <a:pathLst>
              <a:path h="4739819" w="8779568">
                <a:moveTo>
                  <a:pt x="0" y="0"/>
                </a:moveTo>
                <a:lnTo>
                  <a:pt x="8779568" y="0"/>
                </a:lnTo>
                <a:lnTo>
                  <a:pt x="8779568" y="4739819"/>
                </a:lnTo>
                <a:lnTo>
                  <a:pt x="0" y="47398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4613354"/>
            <a:ext cx="9117692" cy="3583736"/>
          </a:xfrm>
          <a:custGeom>
            <a:avLst/>
            <a:gdLst/>
            <a:ahLst/>
            <a:cxnLst/>
            <a:rect r="r" b="b" t="t" l="l"/>
            <a:pathLst>
              <a:path h="3583736" w="9117692">
                <a:moveTo>
                  <a:pt x="0" y="0"/>
                </a:moveTo>
                <a:lnTo>
                  <a:pt x="9117692" y="0"/>
                </a:lnTo>
                <a:lnTo>
                  <a:pt x="9117692" y="3583736"/>
                </a:lnTo>
                <a:lnTo>
                  <a:pt x="0" y="3583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57150"/>
            <a:ext cx="15115255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5 — Top 3 Customers Who Spent the Most Money in Each Year-SQL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544780" y="3786963"/>
            <a:ext cx="3515634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SQL-Output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327" y="476250"/>
            <a:ext cx="4330274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 Query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838339" y="3427835"/>
            <a:ext cx="9449661" cy="5030480"/>
          </a:xfrm>
          <a:custGeom>
            <a:avLst/>
            <a:gdLst/>
            <a:ahLst/>
            <a:cxnLst/>
            <a:rect r="r" b="b" t="t" l="l"/>
            <a:pathLst>
              <a:path h="5030480" w="9449661">
                <a:moveTo>
                  <a:pt x="0" y="0"/>
                </a:moveTo>
                <a:lnTo>
                  <a:pt x="9449661" y="0"/>
                </a:lnTo>
                <a:lnTo>
                  <a:pt x="9449661" y="5030480"/>
                </a:lnTo>
                <a:lnTo>
                  <a:pt x="0" y="50304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00050"/>
            <a:ext cx="6892259" cy="6600366"/>
          </a:xfrm>
          <a:custGeom>
            <a:avLst/>
            <a:gdLst/>
            <a:ahLst/>
            <a:cxnLst/>
            <a:rect r="r" b="b" t="t" l="l"/>
            <a:pathLst>
              <a:path h="6600366" w="6892259">
                <a:moveTo>
                  <a:pt x="0" y="0"/>
                </a:moveTo>
                <a:lnTo>
                  <a:pt x="6892259" y="0"/>
                </a:lnTo>
                <a:lnTo>
                  <a:pt x="6892259" y="6600366"/>
                </a:lnTo>
                <a:lnTo>
                  <a:pt x="0" y="66003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47447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7063930"/>
            <a:ext cx="6416100" cy="3123916"/>
          </a:xfrm>
          <a:custGeom>
            <a:avLst/>
            <a:gdLst/>
            <a:ahLst/>
            <a:cxnLst/>
            <a:rect r="r" b="b" t="t" l="l"/>
            <a:pathLst>
              <a:path h="3123916" w="6416100">
                <a:moveTo>
                  <a:pt x="0" y="0"/>
                </a:moveTo>
                <a:lnTo>
                  <a:pt x="6416100" y="0"/>
                </a:lnTo>
                <a:lnTo>
                  <a:pt x="6416100" y="3123915"/>
                </a:lnTo>
                <a:lnTo>
                  <a:pt x="0" y="31239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5538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0" y="-57150"/>
            <a:ext cx="16577109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5 — Top 3 Customers Who Spent the Most Money in Each Year-PYTHON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723908" y="2552512"/>
            <a:ext cx="4458176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PYTHON-Output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95560" y="228600"/>
            <a:ext cx="15534662" cy="949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74"/>
              </a:lnSpc>
            </a:pPr>
            <a:r>
              <a:rPr lang="en-US" sz="4062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b="true" sz="4062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Methodology &amp; Assumptions</a:t>
            </a:r>
          </a:p>
          <a:p>
            <a:pPr algn="l" marL="691220" indent="-230407" lvl="2">
              <a:lnSpc>
                <a:spcPts val="3628"/>
              </a:lnSpc>
              <a:buAutoNum type="arabicPeriod" startAt="1"/>
            </a:pPr>
            <a:r>
              <a:rPr lang="en-US" b="true" sz="3023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Methodology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b="true" sz="3023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SQL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joins to combine related datasets.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Applied filtering, grouping and aggregation.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window functions for advanced analysis.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ranking and time-based calculations where required.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b="true" sz="3023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Pandas for data preparation and analysis.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Performed equivalent filtering, grouping and aggregation.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rolling calculations for moving averages.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Used percentage-change calculations for YoY analysis.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Compared Python results with corresponding SQL outputs.</a:t>
            </a:r>
          </a:p>
          <a:p>
            <a:pPr algn="l" marL="691220" indent="-230407" lvl="2">
              <a:lnSpc>
                <a:spcPts val="3628"/>
              </a:lnSpc>
            </a:pPr>
          </a:p>
          <a:p>
            <a:pPr algn="l" marL="691220" indent="-230407" lvl="2">
              <a:lnSpc>
                <a:spcPts val="3628"/>
              </a:lnSpc>
              <a:buAutoNum type="arabicPeriod" startAt="1"/>
            </a:pPr>
            <a:r>
              <a:rPr lang="en-US" b="true" sz="3023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</a:t>
            </a:r>
            <a:r>
              <a:rPr lang="en-US" b="true" sz="3023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ey Assumptions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Order-level spending is calculated using the relevant order-item price values.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Customer-level analysis uses customer_unique_id where unique customer identification is required.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Time-based analysis uses the order purchase timestamp.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Retention is evaluated using the defined six-month period.</a:t>
            </a:r>
          </a:p>
          <a:p>
            <a:pPr algn="l" marL="691220" indent="-230407" lvl="2">
              <a:lnSpc>
                <a:spcPts val="3628"/>
              </a:lnSpc>
            </a:pPr>
            <a:r>
              <a:rPr lang="en-US" sz="3023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SQL and Python calculations follow equivalent business logic for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328613"/>
            <a:ext cx="17707808" cy="9862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41"/>
              </a:lnSpc>
            </a:pPr>
            <a:r>
              <a:rPr lang="en-US" b="true" sz="5034" u="sng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Conclusion</a:t>
            </a:r>
          </a:p>
          <a:p>
            <a:pPr algn="l">
              <a:lnSpc>
                <a:spcPts val="5576"/>
              </a:lnSpc>
            </a:pPr>
          </a:p>
          <a:p>
            <a:pPr algn="l">
              <a:lnSpc>
                <a:spcPts val="4298"/>
              </a:lnSpc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This project demonstrates how SQL and Python can be used together for comprehensive e-commerce data analysis.</a:t>
            </a:r>
          </a:p>
          <a:p>
            <a:pPr algn="l">
              <a:lnSpc>
                <a:spcPts val="4298"/>
              </a:lnSpc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project covered basic, intermediate, and advanced analytical questions involving:</a:t>
            </a:r>
          </a:p>
          <a:p>
            <a:pPr algn="l" marL="818869" indent="-272956" lvl="2">
              <a:lnSpc>
                <a:spcPts val="4298"/>
              </a:lnSpc>
              <a:buFont typeface="Arial"/>
              <a:buChar char="⚬"/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Sales performance</a:t>
            </a:r>
          </a:p>
          <a:p>
            <a:pPr algn="l" marL="818869" indent="-272956" lvl="2">
              <a:lnSpc>
                <a:spcPts val="4298"/>
              </a:lnSpc>
              <a:buFont typeface="Arial"/>
              <a:buChar char="⚬"/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Product categories</a:t>
            </a:r>
          </a:p>
          <a:p>
            <a:pPr algn="l" marL="818869" indent="-272956" lvl="2">
              <a:lnSpc>
                <a:spcPts val="4298"/>
              </a:lnSpc>
              <a:buFont typeface="Arial"/>
              <a:buChar char="⚬"/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 behavior</a:t>
            </a:r>
          </a:p>
          <a:p>
            <a:pPr algn="l" marL="818869" indent="-272956" lvl="2">
              <a:lnSpc>
                <a:spcPts val="4298"/>
              </a:lnSpc>
              <a:buFont typeface="Arial"/>
              <a:buChar char="⚬"/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Revenue trends</a:t>
            </a:r>
          </a:p>
          <a:p>
            <a:pPr algn="l" marL="818869" indent="-272956" lvl="2">
              <a:lnSpc>
                <a:spcPts val="4298"/>
              </a:lnSpc>
              <a:buFont typeface="Arial"/>
              <a:buChar char="⚬"/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 retention</a:t>
            </a:r>
          </a:p>
          <a:p>
            <a:pPr algn="l" marL="818869" indent="-272956" lvl="2">
              <a:lnSpc>
                <a:spcPts val="4298"/>
              </a:lnSpc>
              <a:buFont typeface="Arial"/>
              <a:buChar char="⚬"/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Spending patterns</a:t>
            </a:r>
          </a:p>
          <a:p>
            <a:pPr algn="l" marL="818869" indent="-272956" lvl="2">
              <a:lnSpc>
                <a:spcPts val="4298"/>
              </a:lnSpc>
              <a:buFont typeface="Arial"/>
              <a:buChar char="⚬"/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Customer rankings</a:t>
            </a:r>
          </a:p>
          <a:p>
            <a:pPr algn="l" marL="818869" indent="-272956" lvl="2">
              <a:lnSpc>
                <a:spcPts val="4298"/>
              </a:lnSpc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By implementing the analysis in both SQL and Python and comparing the outputs, the project provides a structured approach to cross-tool validation and analytical accuracy.</a:t>
            </a:r>
          </a:p>
          <a:p>
            <a:pPr algn="l" marL="818869" indent="-272956" lvl="2">
              <a:lnSpc>
                <a:spcPts val="4298"/>
              </a:lnSpc>
            </a:pPr>
          </a:p>
          <a:p>
            <a:pPr algn="l" marL="818869" indent="-272956" lvl="2">
              <a:lnSpc>
                <a:spcPts val="4298"/>
              </a:lnSpc>
            </a:pPr>
            <a:r>
              <a:rPr lang="en-US" sz="358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The validated results were then used to derive meaningful business insights from the e-commerce dataset.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504707" y="3382613"/>
            <a:ext cx="6888756" cy="24073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22"/>
              </a:lnSpc>
            </a:pPr>
            <a:r>
              <a:rPr lang="en-US" sz="12435" b="true">
                <a:solidFill>
                  <a:srgbClr val="0070C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641195" y="6222282"/>
            <a:ext cx="6888756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500">
                <a:solidFill>
                  <a:srgbClr val="0070C0"/>
                </a:solidFill>
                <a:latin typeface="Calibri (MS)"/>
                <a:ea typeface="Calibri (MS)"/>
                <a:cs typeface="Calibri (MS)"/>
                <a:sym typeface="Calibri (MS)"/>
              </a:rPr>
              <a:t>~</a:t>
            </a: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Ankita Sarkar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DAHWxtyeOJo</dc:identifier>
  <dcterms:modified xsi:type="dcterms:W3CDTF">2011-08-01T06:04:30Z</dcterms:modified>
  <cp:revision>1</cp:revision>
  <dc:title>BASIC 3 — Total sales per category</dc:title>
</cp:coreProperties>
</file>